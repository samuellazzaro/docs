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5_BFA01AAA.xml" ContentType="application/vnd.ms-powerpoint.comments+xml"/>
  <Override PartName="/ppt/comments/modernComment_104_B7033E9E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E9CBE85-FA48-180D-E4D8-E76154A7C0DA}" name="Samuel Lazzaro" initials="SL" userId="S::Samuel.Lazzaro@gavazziacbu.it::a23e4c20-3163-405c-af4d-ab31da24808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1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Lazzaro" userId="a23e4c20-3163-405c-af4d-ab31da24808c" providerId="ADAL" clId="{AE9D938F-A297-459A-9D98-BE12EBC2309F}"/>
    <pc:docChg chg="undo custSel modSld sldOrd">
      <pc:chgData name="Samuel Lazzaro" userId="a23e4c20-3163-405c-af4d-ab31da24808c" providerId="ADAL" clId="{AE9D938F-A297-459A-9D98-BE12EBC2309F}" dt="2025-02-17T09:26:57.589" v="712"/>
      <pc:docMkLst>
        <pc:docMk/>
      </pc:docMkLst>
      <pc:sldChg chg="modSp mod ord">
        <pc:chgData name="Samuel Lazzaro" userId="a23e4c20-3163-405c-af4d-ab31da24808c" providerId="ADAL" clId="{AE9D938F-A297-459A-9D98-BE12EBC2309F}" dt="2025-02-17T09:26:57.589" v="712"/>
        <pc:sldMkLst>
          <pc:docMk/>
          <pc:sldMk cId="64446728" sldId="257"/>
        </pc:sldMkLst>
        <pc:spChg chg="mod">
          <ac:chgData name="Samuel Lazzaro" userId="a23e4c20-3163-405c-af4d-ab31da24808c" providerId="ADAL" clId="{AE9D938F-A297-459A-9D98-BE12EBC2309F}" dt="2025-02-17T09:23:04.834" v="710" actId="20577"/>
          <ac:spMkLst>
            <pc:docMk/>
            <pc:sldMk cId="64446728" sldId="257"/>
            <ac:spMk id="3" creationId="{681FA957-D086-64B8-FD17-9D9D9BEA4B45}"/>
          </ac:spMkLst>
        </pc:spChg>
      </pc:sldChg>
    </pc:docChg>
  </pc:docChgLst>
  <pc:docChgLst>
    <pc:chgData name="Samuel Lazzaro" userId="a23e4c20-3163-405c-af4d-ab31da24808c" providerId="ADAL" clId="{39159962-5A70-4AD5-9C43-95B733636349}"/>
    <pc:docChg chg="undo custSel addSld delSld modSld">
      <pc:chgData name="Samuel Lazzaro" userId="a23e4c20-3163-405c-af4d-ab31da24808c" providerId="ADAL" clId="{39159962-5A70-4AD5-9C43-95B733636349}" dt="2024-10-08T12:04:40.825" v="2618" actId="47"/>
      <pc:docMkLst>
        <pc:docMk/>
      </pc:docMkLst>
      <pc:sldChg chg="addSp delSp modSp add del mod addCm delCm modCm">
        <pc:chgData name="Samuel Lazzaro" userId="a23e4c20-3163-405c-af4d-ab31da24808c" providerId="ADAL" clId="{39159962-5A70-4AD5-9C43-95B733636349}" dt="2024-10-08T12:04:40.825" v="2618" actId="47"/>
        <pc:sldMkLst>
          <pc:docMk/>
          <pc:sldMk cId="3539060125" sldId="25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amuel Lazzaro" userId="a23e4c20-3163-405c-af4d-ab31da24808c" providerId="ADAL" clId="{39159962-5A70-4AD5-9C43-95B733636349}" dt="2024-10-07T06:58:00.928" v="749"/>
              <pc2:cmMkLst xmlns:pc2="http://schemas.microsoft.com/office/powerpoint/2019/9/main/command">
                <pc:docMk/>
                <pc:sldMk cId="3539060125" sldId="256"/>
                <pc2:cmMk id="{00F1E115-7C84-4993-85A9-5B0A3E524378}"/>
              </pc2:cmMkLst>
            </pc226:cmChg>
            <pc226:cmChg xmlns:pc226="http://schemas.microsoft.com/office/powerpoint/2022/06/main/command" chg="add mod">
              <pc226:chgData name="Samuel Lazzaro" userId="a23e4c20-3163-405c-af4d-ab31da24808c" providerId="ADAL" clId="{39159962-5A70-4AD5-9C43-95B733636349}" dt="2024-10-07T07:02:03.214" v="758"/>
              <pc2:cmMkLst xmlns:pc2="http://schemas.microsoft.com/office/powerpoint/2019/9/main/command">
                <pc:docMk/>
                <pc:sldMk cId="3539060125" sldId="256"/>
                <pc2:cmMk id="{576BA52E-DC0F-4BE7-AF5A-0967E4519BEC}"/>
              </pc2:cmMkLst>
            </pc226:cmChg>
            <pc226:cmChg xmlns:pc226="http://schemas.microsoft.com/office/powerpoint/2022/06/main/command" chg="add del mod">
              <pc226:chgData name="Samuel Lazzaro" userId="a23e4c20-3163-405c-af4d-ab31da24808c" providerId="ADAL" clId="{39159962-5A70-4AD5-9C43-95B733636349}" dt="2024-10-07T07:02:06.969" v="759"/>
              <pc2:cmMkLst xmlns:pc2="http://schemas.microsoft.com/office/powerpoint/2019/9/main/command">
                <pc:docMk/>
                <pc:sldMk cId="3539060125" sldId="256"/>
                <pc2:cmMk id="{FDFB9E56-7D63-45B8-B497-1E42F29B3332}"/>
              </pc2:cmMkLst>
            </pc226:cmChg>
          </p:ext>
        </pc:extLst>
      </pc:sldChg>
      <pc:sldChg chg="modSp new mod">
        <pc:chgData name="Samuel Lazzaro" userId="a23e4c20-3163-405c-af4d-ab31da24808c" providerId="ADAL" clId="{39159962-5A70-4AD5-9C43-95B733636349}" dt="2024-10-04T14:44:03.137" v="661" actId="14100"/>
        <pc:sldMkLst>
          <pc:docMk/>
          <pc:sldMk cId="64446728" sldId="257"/>
        </pc:sldMkLst>
      </pc:sldChg>
      <pc:sldChg chg="addSp delSp modSp new mod">
        <pc:chgData name="Samuel Lazzaro" userId="a23e4c20-3163-405c-af4d-ab31da24808c" providerId="ADAL" clId="{39159962-5A70-4AD5-9C43-95B733636349}" dt="2024-10-07T09:22:43.802" v="2250" actId="114"/>
        <pc:sldMkLst>
          <pc:docMk/>
          <pc:sldMk cId="325155548" sldId="258"/>
        </pc:sldMkLst>
      </pc:sldChg>
      <pc:sldChg chg="addSp delSp modSp add mod">
        <pc:chgData name="Samuel Lazzaro" userId="a23e4c20-3163-405c-af4d-ab31da24808c" providerId="ADAL" clId="{39159962-5A70-4AD5-9C43-95B733636349}" dt="2024-10-07T09:22:05.987" v="2209" actId="14100"/>
        <pc:sldMkLst>
          <pc:docMk/>
          <pc:sldMk cId="3555279204" sldId="259"/>
        </pc:sldMkLst>
      </pc:sldChg>
      <pc:sldChg chg="addSp delSp modSp new mod addCm">
        <pc:chgData name="Samuel Lazzaro" userId="a23e4c20-3163-405c-af4d-ab31da24808c" providerId="ADAL" clId="{39159962-5A70-4AD5-9C43-95B733636349}" dt="2024-10-07T08:39:23.927" v="2198"/>
        <pc:sldMkLst>
          <pc:docMk/>
          <pc:sldMk cId="3070443166" sldId="26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amuel Lazzaro" userId="a23e4c20-3163-405c-af4d-ab31da24808c" providerId="ADAL" clId="{39159962-5A70-4AD5-9C43-95B733636349}" dt="2024-10-07T08:37:51.114" v="2197"/>
              <pc2:cmMkLst xmlns:pc2="http://schemas.microsoft.com/office/powerpoint/2019/9/main/command">
                <pc:docMk/>
                <pc:sldMk cId="3070443166" sldId="260"/>
                <pc2:cmMk id="{96ABB280-3E7D-4EE3-9BE8-852A28DC5C26}"/>
              </pc2:cmMkLst>
            </pc226:cmChg>
            <pc226:cmChg xmlns:pc226="http://schemas.microsoft.com/office/powerpoint/2022/06/main/command" chg="add">
              <pc226:chgData name="Samuel Lazzaro" userId="a23e4c20-3163-405c-af4d-ab31da24808c" providerId="ADAL" clId="{39159962-5A70-4AD5-9C43-95B733636349}" dt="2024-10-07T08:39:23.927" v="2198"/>
              <pc2:cmMkLst xmlns:pc2="http://schemas.microsoft.com/office/powerpoint/2019/9/main/command">
                <pc:docMk/>
                <pc:sldMk cId="3070443166" sldId="260"/>
                <pc2:cmMk id="{E7A6A9B4-499F-4BF6-8943-68FEEFF4ABE3}"/>
              </pc2:cmMkLst>
            </pc226:cmChg>
          </p:ext>
        </pc:extLst>
      </pc:sldChg>
      <pc:sldChg chg="addSp delSp modSp add mod addCm delCm">
        <pc:chgData name="Samuel Lazzaro" userId="a23e4c20-3163-405c-af4d-ab31da24808c" providerId="ADAL" clId="{39159962-5A70-4AD5-9C43-95B733636349}" dt="2024-10-08T12:04:32.008" v="2617"/>
        <pc:sldMkLst>
          <pc:docMk/>
          <pc:sldMk cId="3214940842" sldId="26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Samuel Lazzaro" userId="a23e4c20-3163-405c-af4d-ab31da24808c" providerId="ADAL" clId="{39159962-5A70-4AD5-9C43-95B733636349}" dt="2024-10-08T12:04:22.436" v="2616"/>
              <pc2:cmMkLst xmlns:pc2="http://schemas.microsoft.com/office/powerpoint/2019/9/main/command">
                <pc:docMk/>
                <pc:sldMk cId="3214940842" sldId="261"/>
                <pc2:cmMk id="{F2A22A90-84F7-43A5-959B-2BABAFCFA650}"/>
              </pc2:cmMkLst>
            </pc226:cmChg>
            <pc226:cmChg xmlns:pc226="http://schemas.microsoft.com/office/powerpoint/2022/06/main/command" chg="add">
              <pc226:chgData name="Samuel Lazzaro" userId="a23e4c20-3163-405c-af4d-ab31da24808c" providerId="ADAL" clId="{39159962-5A70-4AD5-9C43-95B733636349}" dt="2024-10-08T12:03:59.286" v="2614"/>
              <pc2:cmMkLst xmlns:pc2="http://schemas.microsoft.com/office/powerpoint/2019/9/main/command">
                <pc:docMk/>
                <pc:sldMk cId="3214940842" sldId="261"/>
                <pc2:cmMk id="{5C6926D8-FBE8-4CDE-BDDF-D14664B675C9}"/>
              </pc2:cmMkLst>
            </pc226:cmChg>
            <pc226:cmChg xmlns:pc226="http://schemas.microsoft.com/office/powerpoint/2022/06/main/command" chg="add">
              <pc226:chgData name="Samuel Lazzaro" userId="a23e4c20-3163-405c-af4d-ab31da24808c" providerId="ADAL" clId="{39159962-5A70-4AD5-9C43-95B733636349}" dt="2024-10-08T12:04:32.008" v="2617"/>
              <pc2:cmMkLst xmlns:pc2="http://schemas.microsoft.com/office/powerpoint/2019/9/main/command">
                <pc:docMk/>
                <pc:sldMk cId="3214940842" sldId="261"/>
                <pc2:cmMk id="{D39F9CF8-4349-4BB2-98D1-65BF5E7A5016}"/>
              </pc2:cmMkLst>
            </pc226:cmChg>
          </p:ext>
        </pc:extLst>
      </pc:sldChg>
    </pc:docChg>
  </pc:docChgLst>
</pc:chgInfo>
</file>

<file path=ppt/comments/modernComment_104_B7033E9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ABB280-3E7D-4EE3-9BE8-852A28DC5C26}" authorId="{BE9CBE85-FA48-180D-E4D8-E76154A7C0DA}" created="2024-10-07T08:37:51.08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070443166" sldId="260"/>
      <ac:spMk id="36" creationId="{38CC4E2D-B1B0-9D6A-5E0F-1D3FD0B816D3}"/>
    </ac:deMkLst>
    <p188:txBody>
      <a:bodyPr/>
      <a:lstStyle/>
      <a:p>
        <a:r>
          <a:rPr lang="it-IT"/>
          <a:t>Questi sono tutti dei task generati dal framework dell’ESP32.
Per ognuno di questi task viene chiamata una _init() e una _start().</a:t>
        </a:r>
      </a:p>
    </p188:txBody>
  </p188:cm>
  <p188:cm id="{E7A6A9B4-499F-4BF6-8943-68FEEFF4ABE3}" authorId="{BE9CBE85-FA48-180D-E4D8-E76154A7C0DA}" created="2024-10-07T08:39:23.91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070443166" sldId="260"/>
      <ac:spMk id="11" creationId="{3C0D87C8-66F1-4AAD-676A-EAD507F4163B}"/>
    </ac:deMkLst>
    <p188:txBody>
      <a:bodyPr/>
      <a:lstStyle/>
      <a:p>
        <a:r>
          <a:rPr lang="it-IT"/>
          <a:t>sysEvent è il default loop creato con esp_event_loop_create_default()</a:t>
        </a:r>
      </a:p>
    </p188:txBody>
  </p188:cm>
</p188:cmLst>
</file>

<file path=ppt/comments/modernComment_105_BFA01AA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C6926D8-FBE8-4CDE-BDDF-D14664B675C9}" authorId="{BE9CBE85-FA48-180D-E4D8-E76154A7C0DA}" created="2024-10-08T12:03:59.25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14940842" sldId="261"/>
      <ac:cxnSpMk id="144" creationId="{6250431D-1C6C-D8CF-CBA8-379921FE15B4}"/>
    </ac:deMkLst>
    <p188:txBody>
      <a:bodyPr/>
      <a:lstStyle/>
      <a:p>
        <a:r>
          <a:rPr lang="it-IT"/>
          <a:t>L’NTP ha un impatto sul timestamp, di conseguenza ha un impatto anche sul calcolo del DMD.</a:t>
        </a:r>
      </a:p>
    </p188:txBody>
  </p188:cm>
  <p188:cm id="{D39F9CF8-4349-4BB2-98D1-65BF5E7A5016}" authorId="{BE9CBE85-FA48-180D-E4D8-E76154A7C0DA}" created="2024-10-08T12:04:31.99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14940842" sldId="261"/>
      <ac:cxnSpMk id="110" creationId="{1800EB1F-B3C3-1AE9-007A-D2FD25923851}"/>
    </ac:deMkLst>
    <p188:txBody>
      <a:bodyPr/>
      <a:lstStyle/>
      <a:p>
        <a:r>
          <a:rPr lang="it-IT"/>
          <a:t>Auxiliary Function -&gt; Web Server: nel momento in cui il check wiring determina che i cavi sono attaccati in maniera errata, devono fornire un warning sul web server con relativa immagine.
Web Server -&gt; Check Wiring: bisogna capire se l’enabled che c’è sul Web Server determina che il check wiring deve essere disabilitato ovunque o che semplicemente non devono essere mostrati warning relativi al check wiring sul Web Server ma che possono ancora essere mostrati sul display dell’EM.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4ED049-039B-3694-9896-8FE2731EC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54A5461-DB4C-DF04-9921-CA028FF84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4F6D7E-97C6-B53B-EAEB-33EBDEE13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2687-2863-4A40-8A24-FCDD756EA248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22E85E-DD04-C782-D736-A6FEA8A6D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93BCAB4-4053-1135-0DD1-1750969C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3F1E-CFF5-4ABE-8C9C-A87B8D8E16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523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EEEB53-B42C-6191-C197-6789B8BEF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20E640-E66F-54A4-4F7C-706CDE9A9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352F47E-5ABA-B7D4-C43C-017F7CE89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2687-2863-4A40-8A24-FCDD756EA248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39D3F43-051B-835A-2C38-A863CB07C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3D443A3-F61E-DB68-3EF8-0AEA25B75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3F1E-CFF5-4ABE-8C9C-A87B8D8E16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8448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EB703A-5A96-2820-3825-C31EC9D00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9BEBE8B-2960-F5FC-C419-B9EFFED9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22A571F-D100-E53A-6100-5F1F5B3A9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2687-2863-4A40-8A24-FCDD756EA248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D0D9023-6328-75D5-5F68-A716E884E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D5CE129-37BC-66DF-58AB-688119107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3F1E-CFF5-4ABE-8C9C-A87B8D8E16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6013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32C9F9-5E8F-CF13-6C17-1C7B9EF2A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30E388-2DEF-2FC7-0CAE-C61501D38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9BEB7DF-2CE5-74E5-30A7-C35A3306F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7EEEF69-93A0-619C-BCDB-47ED204E1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2687-2863-4A40-8A24-FCDD756EA248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FA3956D-7674-F26A-42A4-3572E24FA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CE4F9B4-758E-2584-B445-6273E2B5E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3F1E-CFF5-4ABE-8C9C-A87B8D8E16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6685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94CC88-9488-9FA3-B9C6-A6580F859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F4DFD8F-4F63-F5F8-A6B1-1B658B29D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FA412E8-B613-3A59-F544-6A0CC6E80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CFC5D42-AF93-265A-06FD-FA589EC03B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B4B73E5-86AA-0F08-2CD6-56A4FA7000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3193F22-41AF-8624-3760-396D130B1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2687-2863-4A40-8A24-FCDD756EA248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50043B0-7672-86AC-11F0-843B234DD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871C9AC-1921-CD69-B206-5B54AECEF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3F1E-CFF5-4ABE-8C9C-A87B8D8E16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19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84497A-CEC1-E78A-1A3B-753BC004F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D6A9C56-AA9B-6ABD-C36F-0BC536BCF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2687-2863-4A40-8A24-FCDD756EA248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0099487-056B-8753-1880-5779A05B0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378135-35B6-4A91-1819-290BD4065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3F1E-CFF5-4ABE-8C9C-A87B8D8E16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6037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5D6AE4D-BBEE-D584-86B7-317E72C0F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2687-2863-4A40-8A24-FCDD756EA248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9944E0E-55C3-2246-3926-15601A8C3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106099-E4B5-7FDD-19C1-671C61D18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3F1E-CFF5-4ABE-8C9C-A87B8D8E16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1177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393FFB-43BC-EA8D-3AB6-A595F3FEB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E0C93A-ADD8-0515-B0D9-D2439608E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9C7121C-9304-3110-010C-995EF0A7D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2685FD1-D60F-D870-A498-972FD13A1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2687-2863-4A40-8A24-FCDD756EA248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D56B52B-EB8B-24D1-40B9-6ECF55715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A5FF0D1-217F-D780-3808-21FD4589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3F1E-CFF5-4ABE-8C9C-A87B8D8E16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8882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6A02A4-A42E-6F96-0882-773A0D92B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74B179D-2CC7-E02E-A9E5-4368152B3C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2DE28E0-65A5-82DE-CE81-4C804B8C6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70F1CCB-FB4E-D5FB-E445-2FA900662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2687-2863-4A40-8A24-FCDD756EA248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D57BEDD-1CCB-DE86-B2EB-F5875E504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23707BC-9689-B57C-7DCE-B7885F90A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3F1E-CFF5-4ABE-8C9C-A87B8D8E16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2453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015309-1A5C-E6AF-7277-982836244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D7B18FC-25BD-59FE-FE76-5BA5F94C8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6D7346E-A4BB-9B70-4A9C-0E159A51D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2687-2863-4A40-8A24-FCDD756EA248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866459-D8C1-5BD8-4944-4457332FF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A1090B-27EA-2B81-A301-FD8C7208F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3F1E-CFF5-4ABE-8C9C-A87B8D8E16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3698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FB869A3-91AF-95F6-FBE9-3DFA7D8292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A5706EF-3C05-431E-B845-81DEA9389E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F083DF9-33A6-D474-CB00-4C8D233B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2687-2863-4A40-8A24-FCDD756EA248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583A04C-F117-2024-6E45-C30F05284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A97F8E2-9B63-5ABA-E46B-5A133D30B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D3F1E-CFF5-4ABE-8C9C-A87B8D8E16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7633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67B299A-42AB-B7A8-499C-C56E7AEE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74715FF-6D0F-649F-5238-8D998815E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C6815C9-93CC-D8F8-50AC-D3B83433C4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652687-2863-4A40-8A24-FCDD756EA248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60D4435-7999-273B-21F4-A94C5AA73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2D33498-993C-1FA8-3FDC-7B074D921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1D3F1E-CFF5-4ABE-8C9C-A87B8D8E16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0961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BFA01AAA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4_B7033E9E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2C0A4F-AE88-7D47-BD8F-1D07302B4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it-IT" sz="2800" dirty="0"/>
              <a:t>Sequenza di partenza dei Task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1FA957-D086-64B8-FD17-9D9D9BEA4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3548"/>
            <a:ext cx="10515600" cy="51234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400" dirty="0"/>
              <a:t>La sequenza di partenza dei Tasks non dipende da come questi vengono messi all’interno della funzione </a:t>
            </a:r>
            <a:r>
              <a:rPr lang="it-IT" sz="1400" b="1" i="1" dirty="0" err="1"/>
              <a:t>taskMain_loadTaskList</a:t>
            </a:r>
            <a:r>
              <a:rPr lang="it-IT" sz="1400" dirty="0"/>
              <a:t>, ma segue quest’altra sequenza per la quale un task, prima di partire, può aspettare che 1 o più tasks siano stati avviati:</a:t>
            </a:r>
            <a:endParaRPr lang="it-IT" sz="1400" b="1" i="1" dirty="0"/>
          </a:p>
          <a:p>
            <a:pPr marL="514350" indent="-514350">
              <a:buFont typeface="+mj-lt"/>
              <a:buAutoNum type="arabicPeriod"/>
            </a:pPr>
            <a:r>
              <a:rPr lang="it-IT" sz="1600" b="1" i="1" dirty="0"/>
              <a:t>Task </a:t>
            </a:r>
            <a:r>
              <a:rPr lang="it-IT" sz="1600" b="1" i="1" dirty="0" err="1"/>
              <a:t>Internal</a:t>
            </a:r>
            <a:r>
              <a:rPr lang="it-IT" sz="1600" b="1" i="1" dirty="0"/>
              <a:t> Bus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1600" b="1" i="1" dirty="0"/>
              <a:t>Task Network </a:t>
            </a:r>
            <a:r>
              <a:rPr lang="it-IT" sz="1600" b="1" i="1" dirty="0" err="1"/>
              <a:t>Interfaces</a:t>
            </a:r>
            <a:endParaRPr lang="it-IT" sz="1600" b="1" i="1" dirty="0"/>
          </a:p>
          <a:p>
            <a:pPr marL="514350" indent="-514350">
              <a:buFont typeface="+mj-lt"/>
              <a:buAutoNum type="arabicPeriod"/>
            </a:pPr>
            <a:r>
              <a:rPr lang="it-IT" sz="1600" b="1" i="1" dirty="0"/>
              <a:t>Task </a:t>
            </a:r>
            <a:r>
              <a:rPr lang="it-IT" sz="1600" b="1" i="1" dirty="0" err="1"/>
              <a:t>Timezone</a:t>
            </a:r>
            <a:r>
              <a:rPr lang="it-IT" sz="1600" b="1" i="1" dirty="0"/>
              <a:t> </a:t>
            </a:r>
            <a:r>
              <a:rPr lang="it-IT" sz="1600" dirty="0"/>
              <a:t>-&gt; </a:t>
            </a:r>
            <a:r>
              <a:rPr lang="it-IT" sz="1600" dirty="0" err="1"/>
              <a:t>wait</a:t>
            </a:r>
            <a:r>
              <a:rPr lang="it-IT" sz="1600" dirty="0"/>
              <a:t> task 2 </a:t>
            </a:r>
            <a:r>
              <a:rPr lang="it-IT" sz="1600" dirty="0" err="1"/>
              <a:t>init</a:t>
            </a:r>
            <a:endParaRPr lang="it-IT" sz="1600" dirty="0"/>
          </a:p>
          <a:p>
            <a:pPr marL="514350" indent="-514350">
              <a:buFont typeface="+mj-lt"/>
              <a:buAutoNum type="arabicPeriod"/>
            </a:pPr>
            <a:r>
              <a:rPr lang="it-IT" sz="1600" b="1" i="1" dirty="0"/>
              <a:t>Task </a:t>
            </a:r>
            <a:r>
              <a:rPr lang="it-IT" sz="1600" b="1" i="1" dirty="0" err="1"/>
              <a:t>Alarms</a:t>
            </a:r>
            <a:r>
              <a:rPr lang="it-IT" sz="1600" b="1" i="1" dirty="0"/>
              <a:t> / DMD / Minimal </a:t>
            </a:r>
            <a:r>
              <a:rPr lang="it-IT" sz="1600" b="1" i="1" dirty="0" err="1"/>
              <a:t>Datalogger</a:t>
            </a:r>
            <a:r>
              <a:rPr lang="it-IT" sz="1600" b="1" i="1" dirty="0"/>
              <a:t> </a:t>
            </a:r>
            <a:r>
              <a:rPr lang="it-IT" sz="1600" dirty="0"/>
              <a:t>-&gt; </a:t>
            </a:r>
            <a:r>
              <a:rPr lang="it-IT" sz="1600" dirty="0" err="1"/>
              <a:t>wait</a:t>
            </a:r>
            <a:r>
              <a:rPr lang="it-IT" sz="1600" dirty="0"/>
              <a:t> tasks 1, 2, 3 </a:t>
            </a:r>
            <a:r>
              <a:rPr lang="it-IT" sz="1600" dirty="0" err="1"/>
              <a:t>init</a:t>
            </a:r>
            <a:endParaRPr lang="it-IT" sz="1600" dirty="0"/>
          </a:p>
          <a:p>
            <a:pPr marL="514350" indent="-514350">
              <a:buFont typeface="+mj-lt"/>
              <a:buAutoNum type="arabicPeriod"/>
            </a:pPr>
            <a:r>
              <a:rPr lang="it-IT" sz="1600" b="1" i="1" dirty="0"/>
              <a:t>Task Web Server </a:t>
            </a:r>
            <a:r>
              <a:rPr lang="it-IT" sz="1600" dirty="0"/>
              <a:t>-&gt; </a:t>
            </a:r>
            <a:r>
              <a:rPr lang="it-IT" sz="1600" dirty="0" err="1"/>
              <a:t>wait</a:t>
            </a:r>
            <a:r>
              <a:rPr lang="it-IT" sz="1600" dirty="0"/>
              <a:t> tasks 1, 2, 3, 4 </a:t>
            </a:r>
            <a:r>
              <a:rPr lang="it-IT" sz="1600" dirty="0" err="1"/>
              <a:t>init</a:t>
            </a:r>
            <a:endParaRPr lang="it-IT" sz="1600" dirty="0"/>
          </a:p>
          <a:p>
            <a:pPr marL="514350" indent="-514350">
              <a:buFont typeface="+mj-lt"/>
              <a:buAutoNum type="arabicPeriod"/>
            </a:pPr>
            <a:r>
              <a:rPr lang="it-IT" sz="1600" b="1" i="1" dirty="0"/>
              <a:t>Task </a:t>
            </a:r>
            <a:r>
              <a:rPr lang="it-IT" sz="1600" b="1" i="1" dirty="0" err="1"/>
              <a:t>Modbus</a:t>
            </a:r>
            <a:r>
              <a:rPr lang="it-IT" sz="1600" b="1" i="1" dirty="0"/>
              <a:t> Slave </a:t>
            </a:r>
            <a:r>
              <a:rPr lang="it-IT" sz="1600" b="1" i="1" dirty="0" err="1"/>
              <a:t>Measurer</a:t>
            </a:r>
            <a:r>
              <a:rPr lang="it-IT" sz="1600" b="1" i="1" dirty="0"/>
              <a:t> </a:t>
            </a:r>
            <a:r>
              <a:rPr lang="it-IT" sz="1600" dirty="0"/>
              <a:t>-&gt; </a:t>
            </a:r>
            <a:r>
              <a:rPr lang="it-IT" sz="1600" dirty="0" err="1"/>
              <a:t>wait</a:t>
            </a:r>
            <a:r>
              <a:rPr lang="it-IT" sz="1600" dirty="0"/>
              <a:t> tasks 1, 2, 3, 4 </a:t>
            </a:r>
            <a:r>
              <a:rPr lang="it-IT" sz="1600" dirty="0" err="1"/>
              <a:t>init</a:t>
            </a:r>
            <a:endParaRPr lang="it-IT" sz="1600" dirty="0"/>
          </a:p>
          <a:p>
            <a:pPr marL="514350" indent="-514350">
              <a:buFont typeface="+mj-lt"/>
              <a:buAutoNum type="arabicPeriod"/>
            </a:pPr>
            <a:r>
              <a:rPr lang="it-IT" sz="1600" b="1" i="1" dirty="0"/>
              <a:t>Task Display ???</a:t>
            </a:r>
          </a:p>
          <a:p>
            <a:pPr marL="514350" indent="-514350">
              <a:buFont typeface="+mj-lt"/>
              <a:buAutoNum type="arabicPeriod"/>
            </a:pPr>
            <a:endParaRPr lang="it-IT" sz="1600" dirty="0"/>
          </a:p>
          <a:p>
            <a:pPr marL="514350" indent="-514350">
              <a:buFont typeface="+mj-lt"/>
              <a:buAutoNum type="arabicPeriod"/>
            </a:pP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64446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15A8385E-15CC-1AA8-0D8D-612C28029468}"/>
              </a:ext>
            </a:extLst>
          </p:cNvPr>
          <p:cNvSpPr/>
          <p:nvPr/>
        </p:nvSpPr>
        <p:spPr>
          <a:xfrm>
            <a:off x="2722897" y="3156338"/>
            <a:ext cx="1939636" cy="102523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Task</a:t>
            </a:r>
          </a:p>
          <a:p>
            <a:pPr algn="ctr"/>
            <a:r>
              <a:rPr lang="it-IT" dirty="0" err="1"/>
              <a:t>Alarms</a:t>
            </a:r>
            <a:r>
              <a:rPr lang="it-IT" dirty="0"/>
              <a:t> &amp; DMD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C444AAB2-6C7D-F8B9-6058-564495F2508C}"/>
              </a:ext>
            </a:extLst>
          </p:cNvPr>
          <p:cNvSpPr/>
          <p:nvPr/>
        </p:nvSpPr>
        <p:spPr>
          <a:xfrm>
            <a:off x="9967317" y="1036932"/>
            <a:ext cx="1939636" cy="1025236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Task</a:t>
            </a:r>
          </a:p>
          <a:p>
            <a:pPr algn="ctr"/>
            <a:r>
              <a:rPr lang="it-IT" dirty="0"/>
              <a:t>Web Server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B686EF54-C965-05B8-2E00-8D763144D45E}"/>
              </a:ext>
            </a:extLst>
          </p:cNvPr>
          <p:cNvSpPr/>
          <p:nvPr/>
        </p:nvSpPr>
        <p:spPr>
          <a:xfrm>
            <a:off x="306559" y="5141057"/>
            <a:ext cx="1939636" cy="1025236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Task</a:t>
            </a:r>
          </a:p>
          <a:p>
            <a:pPr algn="ctr"/>
            <a:r>
              <a:rPr lang="it-IT" dirty="0" err="1"/>
              <a:t>Internal</a:t>
            </a:r>
            <a:r>
              <a:rPr lang="it-IT" dirty="0"/>
              <a:t> Bus</a:t>
            </a:r>
          </a:p>
          <a:p>
            <a:pPr algn="ctr"/>
            <a:r>
              <a:rPr lang="it-IT" sz="1000" dirty="0"/>
              <a:t>(</a:t>
            </a:r>
            <a:r>
              <a:rPr lang="it-IT" sz="1000" dirty="0" err="1"/>
              <a:t>Measure</a:t>
            </a:r>
            <a:r>
              <a:rPr lang="it-IT" sz="1000" dirty="0"/>
              <a:t> Module)</a:t>
            </a:r>
            <a:endParaRPr lang="it-IT" dirty="0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06F5942B-7B36-9B5F-4E6C-0C2854FA8AD5}"/>
              </a:ext>
            </a:extLst>
          </p:cNvPr>
          <p:cNvSpPr/>
          <p:nvPr/>
        </p:nvSpPr>
        <p:spPr>
          <a:xfrm>
            <a:off x="4995376" y="3364710"/>
            <a:ext cx="2532150" cy="6084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000" b="1" i="1" dirty="0" err="1">
                <a:solidFill>
                  <a:schemeClr val="tx1"/>
                </a:solidFill>
              </a:rPr>
              <a:t>Alarms</a:t>
            </a:r>
            <a:r>
              <a:rPr lang="it-IT" sz="1000" b="1" i="1" dirty="0">
                <a:solidFill>
                  <a:schemeClr val="tx1"/>
                </a:solidFill>
              </a:rPr>
              <a:t> Settings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000" dirty="0" err="1">
                <a:solidFill>
                  <a:schemeClr val="tx1"/>
                </a:solidFill>
              </a:rPr>
              <a:t>Metering</a:t>
            </a:r>
            <a:r>
              <a:rPr lang="it-IT" sz="1000" dirty="0">
                <a:solidFill>
                  <a:schemeClr val="tx1"/>
                </a:solidFill>
              </a:rPr>
              <a:t> Settings: </a:t>
            </a:r>
            <a:r>
              <a:rPr lang="it-IT" sz="1000" b="1" i="1" dirty="0">
                <a:solidFill>
                  <a:schemeClr val="tx1"/>
                </a:solidFill>
              </a:rPr>
              <a:t>DMD </a:t>
            </a:r>
            <a:r>
              <a:rPr lang="it-IT" sz="1000" b="1" i="1" dirty="0" err="1">
                <a:solidFill>
                  <a:schemeClr val="tx1"/>
                </a:solidFill>
              </a:rPr>
              <a:t>Parameters</a:t>
            </a:r>
            <a:endParaRPr lang="it-IT" sz="1000" b="1" i="1" dirty="0">
              <a:solidFill>
                <a:schemeClr val="tx1"/>
              </a:solidFill>
            </a:endParaRP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565DC796-8C2B-B4E2-EA63-7DCB4620F816}"/>
              </a:ext>
            </a:extLst>
          </p:cNvPr>
          <p:cNvSpPr/>
          <p:nvPr/>
        </p:nvSpPr>
        <p:spPr>
          <a:xfrm>
            <a:off x="2619483" y="5349429"/>
            <a:ext cx="2150637" cy="6084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All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physical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values</a:t>
            </a:r>
            <a:endParaRPr lang="it-IT" sz="1000" dirty="0">
              <a:solidFill>
                <a:schemeClr val="tx1"/>
              </a:solidFill>
            </a:endParaRP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(ex. </a:t>
            </a:r>
            <a:r>
              <a:rPr lang="it-IT" sz="1000" b="1" i="1" dirty="0" err="1">
                <a:solidFill>
                  <a:schemeClr val="tx1"/>
                </a:solidFill>
              </a:rPr>
              <a:t>Current</a:t>
            </a:r>
            <a:r>
              <a:rPr lang="it-IT" sz="1000" b="1" i="1" dirty="0">
                <a:solidFill>
                  <a:schemeClr val="tx1"/>
                </a:solidFill>
              </a:rPr>
              <a:t>, </a:t>
            </a:r>
            <a:r>
              <a:rPr lang="it-IT" sz="1000" b="1" i="1" dirty="0" err="1">
                <a:solidFill>
                  <a:schemeClr val="tx1"/>
                </a:solidFill>
              </a:rPr>
              <a:t>voltage</a:t>
            </a:r>
            <a:r>
              <a:rPr lang="it-IT" sz="1000" b="1" i="1" dirty="0">
                <a:solidFill>
                  <a:schemeClr val="tx1"/>
                </a:solidFill>
              </a:rPr>
              <a:t>, power, energy, </a:t>
            </a:r>
            <a:r>
              <a:rPr lang="it-IT" sz="1000" dirty="0">
                <a:solidFill>
                  <a:schemeClr val="tx1"/>
                </a:solidFill>
              </a:rPr>
              <a:t>etc.)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69A47BE8-6FD6-02EE-9FAB-BA08023B91AA}"/>
              </a:ext>
            </a:extLst>
          </p:cNvPr>
          <p:cNvSpPr/>
          <p:nvPr/>
        </p:nvSpPr>
        <p:spPr>
          <a:xfrm>
            <a:off x="283103" y="524314"/>
            <a:ext cx="1939637" cy="1025236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Task</a:t>
            </a:r>
          </a:p>
          <a:p>
            <a:pPr algn="ctr"/>
            <a:r>
              <a:rPr lang="it-IT" dirty="0"/>
              <a:t>Network </a:t>
            </a:r>
            <a:r>
              <a:rPr lang="it-IT" dirty="0" err="1"/>
              <a:t>Interfaces</a:t>
            </a:r>
            <a:endParaRPr lang="it-IT" dirty="0"/>
          </a:p>
          <a:p>
            <a:pPr algn="ctr"/>
            <a:r>
              <a:rPr lang="it-IT" sz="1000" dirty="0"/>
              <a:t>(</a:t>
            </a:r>
            <a:r>
              <a:rPr lang="it-IT" sz="1000" i="1" dirty="0"/>
              <a:t>Ethernet, Wi-Fi, etc.)</a:t>
            </a:r>
            <a:endParaRPr lang="it-IT" sz="1400" dirty="0"/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47863F6E-290E-764D-D7E5-716208BEE89D}"/>
              </a:ext>
            </a:extLst>
          </p:cNvPr>
          <p:cNvSpPr/>
          <p:nvPr/>
        </p:nvSpPr>
        <p:spPr>
          <a:xfrm>
            <a:off x="2640997" y="670132"/>
            <a:ext cx="2214380" cy="733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it-IT" sz="1000" b="1" i="1" dirty="0">
                <a:solidFill>
                  <a:schemeClr val="tx1"/>
                </a:solidFill>
              </a:rPr>
              <a:t>Settings -&gt; </a:t>
            </a:r>
            <a:r>
              <a:rPr lang="it-IT" sz="1000" b="1" i="1" dirty="0" err="1">
                <a:solidFill>
                  <a:schemeClr val="tx1"/>
                </a:solidFill>
              </a:rPr>
              <a:t>Communication</a:t>
            </a:r>
            <a:endParaRPr lang="it-IT" sz="1000" b="1" i="1" dirty="0">
              <a:solidFill>
                <a:schemeClr val="tx1"/>
              </a:solidFill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</a:rPr>
              <a:t>Ethernet </a:t>
            </a:r>
            <a:r>
              <a:rPr lang="it-IT" sz="1000" dirty="0" err="1">
                <a:solidFill>
                  <a:schemeClr val="tx1"/>
                </a:solidFill>
              </a:rPr>
              <a:t>parameters</a:t>
            </a:r>
            <a:endParaRPr lang="it-IT" sz="1000" dirty="0">
              <a:solidFill>
                <a:schemeClr val="tx1"/>
              </a:solidFill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</a:rPr>
              <a:t>Wi-Fi (</a:t>
            </a:r>
            <a:r>
              <a:rPr lang="it-IT" sz="1000" dirty="0" err="1">
                <a:solidFill>
                  <a:schemeClr val="tx1"/>
                </a:solidFill>
              </a:rPr>
              <a:t>softAP</a:t>
            </a:r>
            <a:r>
              <a:rPr lang="it-IT" sz="1000" dirty="0">
                <a:solidFill>
                  <a:schemeClr val="tx1"/>
                </a:solidFill>
              </a:rPr>
              <a:t>, station) </a:t>
            </a:r>
            <a:r>
              <a:rPr lang="it-IT" sz="1000" dirty="0" err="1">
                <a:solidFill>
                  <a:schemeClr val="tx1"/>
                </a:solidFill>
              </a:rPr>
              <a:t>parameters</a:t>
            </a:r>
            <a:endParaRPr lang="it-IT" sz="1000" dirty="0">
              <a:solidFill>
                <a:schemeClr val="tx1"/>
              </a:solidFill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t-IT" sz="1000" dirty="0" err="1">
                <a:solidFill>
                  <a:schemeClr val="tx1"/>
                </a:solidFill>
              </a:rPr>
              <a:t>mDNS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parameters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1D942A6A-9DE4-0733-5196-6EEE1B921449}"/>
              </a:ext>
            </a:extLst>
          </p:cNvPr>
          <p:cNvSpPr/>
          <p:nvPr/>
        </p:nvSpPr>
        <p:spPr>
          <a:xfrm>
            <a:off x="2722897" y="1777106"/>
            <a:ext cx="1939636" cy="102523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Task</a:t>
            </a:r>
          </a:p>
          <a:p>
            <a:pPr algn="ctr"/>
            <a:r>
              <a:rPr lang="it-IT" dirty="0" err="1"/>
              <a:t>Timezone</a:t>
            </a:r>
            <a:endParaRPr lang="it-IT" dirty="0"/>
          </a:p>
        </p:txBody>
      </p:sp>
      <p:sp>
        <p:nvSpPr>
          <p:cNvPr id="67" name="Rettangolo 66">
            <a:extLst>
              <a:ext uri="{FF2B5EF4-FFF2-40B4-BE49-F238E27FC236}">
                <a16:creationId xmlns:a16="http://schemas.microsoft.com/office/drawing/2014/main" id="{065198CA-E884-C18F-2591-51ACFF2CBD1E}"/>
              </a:ext>
            </a:extLst>
          </p:cNvPr>
          <p:cNvSpPr/>
          <p:nvPr/>
        </p:nvSpPr>
        <p:spPr>
          <a:xfrm>
            <a:off x="4995375" y="1982444"/>
            <a:ext cx="2532150" cy="6084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it-IT" sz="1000" b="1" i="1" dirty="0">
                <a:solidFill>
                  <a:schemeClr val="tx1"/>
                </a:solidFill>
              </a:rPr>
              <a:t>Settings -&gt; General:</a:t>
            </a:r>
            <a:endParaRPr lang="it-IT" sz="1000" dirty="0">
              <a:solidFill>
                <a:schemeClr val="tx1"/>
              </a:solidFill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</a:rPr>
              <a:t>NTP </a:t>
            </a:r>
            <a:r>
              <a:rPr lang="it-IT" sz="1000" dirty="0" err="1">
                <a:solidFill>
                  <a:schemeClr val="tx1"/>
                </a:solidFill>
              </a:rPr>
              <a:t>parameters</a:t>
            </a:r>
            <a:r>
              <a:rPr lang="it-IT" sz="1000" dirty="0">
                <a:solidFill>
                  <a:schemeClr val="tx1"/>
                </a:solidFill>
              </a:rPr>
              <a:t> (</a:t>
            </a:r>
            <a:r>
              <a:rPr lang="it-IT" sz="1000" i="1" dirty="0">
                <a:solidFill>
                  <a:schemeClr val="tx1"/>
                </a:solidFill>
              </a:rPr>
              <a:t>RTC </a:t>
            </a:r>
            <a:r>
              <a:rPr lang="it-IT" sz="1000" i="1" dirty="0" err="1">
                <a:solidFill>
                  <a:schemeClr val="tx1"/>
                </a:solidFill>
              </a:rPr>
              <a:t>Synchronization</a:t>
            </a:r>
            <a:r>
              <a:rPr lang="it-IT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B523BF74-B712-BA89-2700-8FF720898334}"/>
              </a:ext>
            </a:extLst>
          </p:cNvPr>
          <p:cNvSpPr/>
          <p:nvPr/>
        </p:nvSpPr>
        <p:spPr>
          <a:xfrm>
            <a:off x="5173145" y="4181574"/>
            <a:ext cx="1941580" cy="102523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Task</a:t>
            </a:r>
          </a:p>
          <a:p>
            <a:pPr algn="ctr"/>
            <a:r>
              <a:rPr lang="it-IT" dirty="0" err="1"/>
              <a:t>Auxiliary</a:t>
            </a:r>
            <a:r>
              <a:rPr lang="it-IT" dirty="0"/>
              <a:t> </a:t>
            </a:r>
            <a:r>
              <a:rPr lang="it-IT" dirty="0" err="1"/>
              <a:t>Functions</a:t>
            </a:r>
            <a:endParaRPr lang="it-IT" dirty="0"/>
          </a:p>
          <a:p>
            <a:pPr algn="ctr"/>
            <a:r>
              <a:rPr lang="it-IT" sz="1000" dirty="0"/>
              <a:t>(Check </a:t>
            </a:r>
            <a:r>
              <a:rPr lang="it-IT" sz="1000" dirty="0" err="1"/>
              <a:t>Wiring</a:t>
            </a:r>
            <a:r>
              <a:rPr lang="it-IT" sz="1000" dirty="0"/>
              <a:t>)</a:t>
            </a:r>
            <a:endParaRPr lang="it-IT" dirty="0"/>
          </a:p>
        </p:txBody>
      </p:sp>
      <p:sp>
        <p:nvSpPr>
          <p:cNvPr id="49" name="Rettangolo con angoli arrotondati 48">
            <a:extLst>
              <a:ext uri="{FF2B5EF4-FFF2-40B4-BE49-F238E27FC236}">
                <a16:creationId xmlns:a16="http://schemas.microsoft.com/office/drawing/2014/main" id="{0E4F7801-3D3E-9326-D786-F2981958E2F1}"/>
              </a:ext>
            </a:extLst>
          </p:cNvPr>
          <p:cNvSpPr/>
          <p:nvPr/>
        </p:nvSpPr>
        <p:spPr>
          <a:xfrm>
            <a:off x="10160160" y="3156338"/>
            <a:ext cx="1941580" cy="1025236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Task </a:t>
            </a:r>
            <a:r>
              <a:rPr lang="it-IT" dirty="0" err="1"/>
              <a:t>Modbus</a:t>
            </a:r>
            <a:r>
              <a:rPr lang="it-IT" dirty="0"/>
              <a:t> Slave </a:t>
            </a:r>
            <a:r>
              <a:rPr lang="it-IT" dirty="0" err="1"/>
              <a:t>Measure</a:t>
            </a:r>
            <a:endParaRPr lang="it-IT" dirty="0"/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19213587-2C09-DFB9-EFA3-86EBEBA61BAD}"/>
              </a:ext>
            </a:extLst>
          </p:cNvPr>
          <p:cNvSpPr/>
          <p:nvPr/>
        </p:nvSpPr>
        <p:spPr>
          <a:xfrm>
            <a:off x="8499286" y="2998962"/>
            <a:ext cx="1367100" cy="592914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Modbus</a:t>
            </a:r>
            <a:r>
              <a:rPr lang="it-IT" dirty="0"/>
              <a:t> RTU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C2EB7757-5912-1218-7950-1C33D3F515C2}"/>
              </a:ext>
            </a:extLst>
          </p:cNvPr>
          <p:cNvSpPr/>
          <p:nvPr/>
        </p:nvSpPr>
        <p:spPr>
          <a:xfrm>
            <a:off x="8499286" y="3823117"/>
            <a:ext cx="1367100" cy="592914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Modbus</a:t>
            </a:r>
            <a:r>
              <a:rPr lang="it-IT" dirty="0"/>
              <a:t> TCP</a:t>
            </a:r>
          </a:p>
        </p:txBody>
      </p:sp>
      <p:cxnSp>
        <p:nvCxnSpPr>
          <p:cNvPr id="6" name="Connettore a gomito 5">
            <a:extLst>
              <a:ext uri="{FF2B5EF4-FFF2-40B4-BE49-F238E27FC236}">
                <a16:creationId xmlns:a16="http://schemas.microsoft.com/office/drawing/2014/main" id="{57308F57-43EA-F224-E909-D53575546C01}"/>
              </a:ext>
            </a:extLst>
          </p:cNvPr>
          <p:cNvCxnSpPr>
            <a:cxnSpLocks/>
            <a:stCxn id="49" idx="1"/>
            <a:endCxn id="3" idx="3"/>
          </p:cNvCxnSpPr>
          <p:nvPr/>
        </p:nvCxnSpPr>
        <p:spPr>
          <a:xfrm rot="10800000" flipV="1">
            <a:off x="9866386" y="3668956"/>
            <a:ext cx="293774" cy="45061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a gomito 9">
            <a:extLst>
              <a:ext uri="{FF2B5EF4-FFF2-40B4-BE49-F238E27FC236}">
                <a16:creationId xmlns:a16="http://schemas.microsoft.com/office/drawing/2014/main" id="{BA1922DE-8089-0192-9BC6-82F2F9E68057}"/>
              </a:ext>
            </a:extLst>
          </p:cNvPr>
          <p:cNvCxnSpPr>
            <a:cxnSpLocks/>
            <a:stCxn id="49" idx="1"/>
            <a:endCxn id="2" idx="3"/>
          </p:cNvCxnSpPr>
          <p:nvPr/>
        </p:nvCxnSpPr>
        <p:spPr>
          <a:xfrm rot="10800000">
            <a:off x="9866386" y="3295420"/>
            <a:ext cx="293774" cy="37353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1035DB52-BA14-079C-5BCA-F4016A1374C3}"/>
              </a:ext>
            </a:extLst>
          </p:cNvPr>
          <p:cNvCxnSpPr>
            <a:cxnSpLocks/>
            <a:stCxn id="8" idx="3"/>
            <a:endCxn id="28" idx="1"/>
          </p:cNvCxnSpPr>
          <p:nvPr/>
        </p:nvCxnSpPr>
        <p:spPr>
          <a:xfrm>
            <a:off x="2246195" y="5653675"/>
            <a:ext cx="373288" cy="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823F39F3-4666-DDB6-8FB1-9B26DC157725}"/>
              </a:ext>
            </a:extLst>
          </p:cNvPr>
          <p:cNvCxnSpPr>
            <a:cxnSpLocks/>
            <a:stCxn id="39" idx="3"/>
            <a:endCxn id="48" idx="1"/>
          </p:cNvCxnSpPr>
          <p:nvPr/>
        </p:nvCxnSpPr>
        <p:spPr>
          <a:xfrm>
            <a:off x="2222740" y="1036932"/>
            <a:ext cx="418257" cy="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64FC55C1-1484-35F0-9AB6-D0E2720D0159}"/>
              </a:ext>
            </a:extLst>
          </p:cNvPr>
          <p:cNvCxnSpPr>
            <a:cxnSpLocks/>
            <a:stCxn id="4" idx="3"/>
            <a:endCxn id="24" idx="1"/>
          </p:cNvCxnSpPr>
          <p:nvPr/>
        </p:nvCxnSpPr>
        <p:spPr>
          <a:xfrm>
            <a:off x="4662533" y="3668956"/>
            <a:ext cx="332843" cy="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9E576BC2-F36D-C068-F909-ECF63105E16B}"/>
              </a:ext>
            </a:extLst>
          </p:cNvPr>
          <p:cNvCxnSpPr>
            <a:cxnSpLocks/>
            <a:stCxn id="66" idx="3"/>
            <a:endCxn id="67" idx="1"/>
          </p:cNvCxnSpPr>
          <p:nvPr/>
        </p:nvCxnSpPr>
        <p:spPr>
          <a:xfrm flipV="1">
            <a:off x="4662533" y="2286690"/>
            <a:ext cx="332842" cy="3034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DE6CE76C-14B3-44AB-7CC2-21C6A95EBEBF}"/>
              </a:ext>
            </a:extLst>
          </p:cNvPr>
          <p:cNvCxnSpPr>
            <a:cxnSpLocks/>
            <a:endCxn id="66" idx="0"/>
          </p:cNvCxnSpPr>
          <p:nvPr/>
        </p:nvCxnSpPr>
        <p:spPr>
          <a:xfrm>
            <a:off x="3692715" y="1412964"/>
            <a:ext cx="0" cy="364142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2 64">
            <a:extLst>
              <a:ext uri="{FF2B5EF4-FFF2-40B4-BE49-F238E27FC236}">
                <a16:creationId xmlns:a16="http://schemas.microsoft.com/office/drawing/2014/main" id="{6D8B94B6-44DE-36FC-4CC4-A6BB51E39D25}"/>
              </a:ext>
            </a:extLst>
          </p:cNvPr>
          <p:cNvCxnSpPr>
            <a:cxnSpLocks/>
            <a:stCxn id="28" idx="0"/>
            <a:endCxn id="4" idx="2"/>
          </p:cNvCxnSpPr>
          <p:nvPr/>
        </p:nvCxnSpPr>
        <p:spPr>
          <a:xfrm flipH="1" flipV="1">
            <a:off x="3692715" y="4181574"/>
            <a:ext cx="2087" cy="1167855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ttore 2 72">
            <a:extLst>
              <a:ext uri="{FF2B5EF4-FFF2-40B4-BE49-F238E27FC236}">
                <a16:creationId xmlns:a16="http://schemas.microsoft.com/office/drawing/2014/main" id="{BB1194A1-D126-2CF5-1C47-04A94CC8BA15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3692715" y="4694192"/>
            <a:ext cx="1480430" cy="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ttore a gomito 92">
            <a:extLst>
              <a:ext uri="{FF2B5EF4-FFF2-40B4-BE49-F238E27FC236}">
                <a16:creationId xmlns:a16="http://schemas.microsoft.com/office/drawing/2014/main" id="{94EB5A60-6B0B-B317-87D2-9FDD8E3683D8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4770120" y="4119574"/>
            <a:ext cx="3729166" cy="1696010"/>
          </a:xfrm>
          <a:prstGeom prst="bentConnector3">
            <a:avLst>
              <a:gd name="adj1" fmla="val 95158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ttore a gomito 103">
            <a:extLst>
              <a:ext uri="{FF2B5EF4-FFF2-40B4-BE49-F238E27FC236}">
                <a16:creationId xmlns:a16="http://schemas.microsoft.com/office/drawing/2014/main" id="{FD26E980-755D-D744-D62A-D1A395072BAD}"/>
              </a:ext>
            </a:extLst>
          </p:cNvPr>
          <p:cNvCxnSpPr>
            <a:stCxn id="28" idx="3"/>
            <a:endCxn id="2" idx="1"/>
          </p:cNvCxnSpPr>
          <p:nvPr/>
        </p:nvCxnSpPr>
        <p:spPr>
          <a:xfrm flipV="1">
            <a:off x="4770120" y="3295419"/>
            <a:ext cx="3729166" cy="2358256"/>
          </a:xfrm>
          <a:prstGeom prst="bentConnector3">
            <a:avLst>
              <a:gd name="adj1" fmla="val 89028"/>
            </a:avLst>
          </a:prstGeom>
          <a:ln>
            <a:solidFill>
              <a:srgbClr val="7030A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ttore a gomito 106">
            <a:extLst>
              <a:ext uri="{FF2B5EF4-FFF2-40B4-BE49-F238E27FC236}">
                <a16:creationId xmlns:a16="http://schemas.microsoft.com/office/drawing/2014/main" id="{ED42D9F9-69D2-A887-63DD-B5BE12CF088A}"/>
              </a:ext>
            </a:extLst>
          </p:cNvPr>
          <p:cNvCxnSpPr>
            <a:endCxn id="7" idx="1"/>
          </p:cNvCxnSpPr>
          <p:nvPr/>
        </p:nvCxnSpPr>
        <p:spPr>
          <a:xfrm flipV="1">
            <a:off x="4770120" y="1549550"/>
            <a:ext cx="5197197" cy="3938374"/>
          </a:xfrm>
          <a:prstGeom prst="bentConnector3">
            <a:avLst>
              <a:gd name="adj1" fmla="val 5938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ttore diritto 109">
            <a:extLst>
              <a:ext uri="{FF2B5EF4-FFF2-40B4-BE49-F238E27FC236}">
                <a16:creationId xmlns:a16="http://schemas.microsoft.com/office/drawing/2014/main" id="{1800EB1F-B3C3-1AE9-007A-D2FD25923851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7114725" y="4694192"/>
            <a:ext cx="74149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14" name="Connettore diritto 113">
            <a:extLst>
              <a:ext uri="{FF2B5EF4-FFF2-40B4-BE49-F238E27FC236}">
                <a16:creationId xmlns:a16="http://schemas.microsoft.com/office/drawing/2014/main" id="{34686457-6992-CDD0-DBD6-B01C19E07F38}"/>
              </a:ext>
            </a:extLst>
          </p:cNvPr>
          <p:cNvCxnSpPr>
            <a:cxnSpLocks/>
          </p:cNvCxnSpPr>
          <p:nvPr/>
        </p:nvCxnSpPr>
        <p:spPr>
          <a:xfrm>
            <a:off x="7527525" y="3823117"/>
            <a:ext cx="563963" cy="0"/>
          </a:xfrm>
          <a:prstGeom prst="line">
            <a:avLst/>
          </a:prstGeom>
          <a:ln>
            <a:solidFill>
              <a:srgbClr val="7030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diritto 117">
            <a:extLst>
              <a:ext uri="{FF2B5EF4-FFF2-40B4-BE49-F238E27FC236}">
                <a16:creationId xmlns:a16="http://schemas.microsoft.com/office/drawing/2014/main" id="{7EB51F93-4D24-2371-B514-7E64B449C8B8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7527526" y="3668956"/>
            <a:ext cx="32869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2" name="Connettore a gomito 121">
            <a:extLst>
              <a:ext uri="{FF2B5EF4-FFF2-40B4-BE49-F238E27FC236}">
                <a16:creationId xmlns:a16="http://schemas.microsoft.com/office/drawing/2014/main" id="{903899AF-7E70-4EDC-FE11-97BC6E12D633}"/>
              </a:ext>
            </a:extLst>
          </p:cNvPr>
          <p:cNvCxnSpPr>
            <a:cxnSpLocks/>
          </p:cNvCxnSpPr>
          <p:nvPr/>
        </p:nvCxnSpPr>
        <p:spPr>
          <a:xfrm>
            <a:off x="4855377" y="856869"/>
            <a:ext cx="3482829" cy="3262705"/>
          </a:xfrm>
          <a:prstGeom prst="bentConnector3">
            <a:avLst>
              <a:gd name="adj1" fmla="val 99364"/>
            </a:avLst>
          </a:prstGeom>
          <a:ln w="190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ttore a gomito 129">
            <a:extLst>
              <a:ext uri="{FF2B5EF4-FFF2-40B4-BE49-F238E27FC236}">
                <a16:creationId xmlns:a16="http://schemas.microsoft.com/office/drawing/2014/main" id="{ABDFB0CC-1965-5FBA-FDE1-8E8979B094F9}"/>
              </a:ext>
            </a:extLst>
          </p:cNvPr>
          <p:cNvCxnSpPr>
            <a:stCxn id="48" idx="3"/>
          </p:cNvCxnSpPr>
          <p:nvPr/>
        </p:nvCxnSpPr>
        <p:spPr>
          <a:xfrm>
            <a:off x="4855377" y="1036932"/>
            <a:ext cx="3000843" cy="512618"/>
          </a:xfrm>
          <a:prstGeom prst="bentConnector3">
            <a:avLst>
              <a:gd name="adj1" fmla="val 99992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ttore diritto 131">
            <a:extLst>
              <a:ext uri="{FF2B5EF4-FFF2-40B4-BE49-F238E27FC236}">
                <a16:creationId xmlns:a16="http://schemas.microsoft.com/office/drawing/2014/main" id="{05935B8D-FB84-8181-CE7A-76B45E3527EE}"/>
              </a:ext>
            </a:extLst>
          </p:cNvPr>
          <p:cNvCxnSpPr>
            <a:cxnSpLocks/>
            <a:stCxn id="67" idx="3"/>
          </p:cNvCxnSpPr>
          <p:nvPr/>
        </p:nvCxnSpPr>
        <p:spPr>
          <a:xfrm>
            <a:off x="7527525" y="2286690"/>
            <a:ext cx="32869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44" name="Connettore a gomito 143">
            <a:extLst>
              <a:ext uri="{FF2B5EF4-FFF2-40B4-BE49-F238E27FC236}">
                <a16:creationId xmlns:a16="http://schemas.microsoft.com/office/drawing/2014/main" id="{6250431D-1C6C-D8CF-CBA8-379921FE15B4}"/>
              </a:ext>
            </a:extLst>
          </p:cNvPr>
          <p:cNvCxnSpPr>
            <a:stCxn id="67" idx="2"/>
            <a:endCxn id="4" idx="0"/>
          </p:cNvCxnSpPr>
          <p:nvPr/>
        </p:nvCxnSpPr>
        <p:spPr>
          <a:xfrm rot="5400000">
            <a:off x="4694382" y="1589270"/>
            <a:ext cx="565402" cy="2568735"/>
          </a:xfrm>
          <a:prstGeom prst="bentConnector3">
            <a:avLst>
              <a:gd name="adj1" fmla="val 64825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94084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116898C6-2350-CD4B-8BCD-F57F704940E9}"/>
              </a:ext>
            </a:extLst>
          </p:cNvPr>
          <p:cNvSpPr/>
          <p:nvPr/>
        </p:nvSpPr>
        <p:spPr>
          <a:xfrm>
            <a:off x="5342734" y="186435"/>
            <a:ext cx="1506531" cy="55568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App </a:t>
            </a:r>
            <a:r>
              <a:rPr lang="it-IT" dirty="0" err="1"/>
              <a:t>main</a:t>
            </a:r>
            <a:endParaRPr lang="it-IT" dirty="0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2573994E-7A9F-E42B-9B47-62DC9C29F21E}"/>
              </a:ext>
            </a:extLst>
          </p:cNvPr>
          <p:cNvSpPr/>
          <p:nvPr/>
        </p:nvSpPr>
        <p:spPr>
          <a:xfrm>
            <a:off x="1285324" y="742122"/>
            <a:ext cx="1941580" cy="1025236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Task </a:t>
            </a:r>
            <a:r>
              <a:rPr lang="it-IT" dirty="0" err="1"/>
              <a:t>Modbus</a:t>
            </a:r>
            <a:r>
              <a:rPr lang="it-IT" dirty="0"/>
              <a:t> Slave </a:t>
            </a:r>
            <a:r>
              <a:rPr lang="it-IT" dirty="0" err="1"/>
              <a:t>Measure</a:t>
            </a:r>
            <a:endParaRPr lang="it-IT" dirty="0"/>
          </a:p>
        </p:txBody>
      </p:sp>
      <p:cxnSp>
        <p:nvCxnSpPr>
          <p:cNvPr id="5" name="Connettore a gomito 4">
            <a:extLst>
              <a:ext uri="{FF2B5EF4-FFF2-40B4-BE49-F238E27FC236}">
                <a16:creationId xmlns:a16="http://schemas.microsoft.com/office/drawing/2014/main" id="{A0F89A87-C61B-9541-8067-0971690F9768}"/>
              </a:ext>
            </a:extLst>
          </p:cNvPr>
          <p:cNvCxnSpPr>
            <a:cxnSpLocks/>
            <a:stCxn id="2" idx="1"/>
            <a:endCxn id="3" idx="0"/>
          </p:cNvCxnSpPr>
          <p:nvPr/>
        </p:nvCxnSpPr>
        <p:spPr>
          <a:xfrm rot="10800000" flipV="1">
            <a:off x="2256114" y="464278"/>
            <a:ext cx="3086620" cy="277843"/>
          </a:xfrm>
          <a:prstGeom prst="bentConnector2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4B9DF5DC-8121-BB74-2951-533B10DCFAA1}"/>
              </a:ext>
            </a:extLst>
          </p:cNvPr>
          <p:cNvSpPr/>
          <p:nvPr/>
        </p:nvSpPr>
        <p:spPr>
          <a:xfrm>
            <a:off x="1205452" y="2167635"/>
            <a:ext cx="2099381" cy="555687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ESP Timer Task</a:t>
            </a:r>
          </a:p>
          <a:p>
            <a:pPr algn="ctr"/>
            <a:r>
              <a:rPr lang="it-IT" sz="1000" dirty="0"/>
              <a:t>(</a:t>
            </a:r>
            <a:r>
              <a:rPr lang="it-IT" sz="1000" b="1" i="1" dirty="0"/>
              <a:t>ESP_TIMER_TASK</a:t>
            </a:r>
            <a:r>
              <a:rPr lang="it-IT" sz="1000" dirty="0"/>
              <a:t>)</a:t>
            </a:r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EAD456A-7A94-C098-1EEE-882D8C7C4F3C}"/>
              </a:ext>
            </a:extLst>
          </p:cNvPr>
          <p:cNvSpPr/>
          <p:nvPr/>
        </p:nvSpPr>
        <p:spPr>
          <a:xfrm>
            <a:off x="989066" y="3124754"/>
            <a:ext cx="2532150" cy="6084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</a:rPr>
              <a:t>Task </a:t>
            </a:r>
            <a:r>
              <a:rPr lang="it-IT" sz="1000" dirty="0" err="1">
                <a:solidFill>
                  <a:schemeClr val="tx1"/>
                </a:solidFill>
              </a:rPr>
              <a:t>used</a:t>
            </a:r>
            <a:r>
              <a:rPr lang="it-IT" sz="1000" dirty="0">
                <a:solidFill>
                  <a:schemeClr val="tx1"/>
                </a:solidFill>
              </a:rPr>
              <a:t> for the </a:t>
            </a:r>
            <a:r>
              <a:rPr lang="it-IT" sz="1000" b="1" i="1" dirty="0" err="1">
                <a:solidFill>
                  <a:schemeClr val="tx1"/>
                </a:solidFill>
              </a:rPr>
              <a:t>silent</a:t>
            </a:r>
            <a:r>
              <a:rPr lang="it-IT" sz="1000" b="1" i="1" dirty="0">
                <a:solidFill>
                  <a:schemeClr val="tx1"/>
                </a:solidFill>
              </a:rPr>
              <a:t> time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000" dirty="0" err="1">
                <a:solidFill>
                  <a:schemeClr val="tx1"/>
                </a:solidFill>
              </a:rPr>
              <a:t>It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is</a:t>
            </a:r>
            <a:r>
              <a:rPr lang="it-IT" sz="1000" dirty="0">
                <a:solidFill>
                  <a:schemeClr val="tx1"/>
                </a:solidFill>
              </a:rPr>
              <a:t> a </a:t>
            </a:r>
            <a:r>
              <a:rPr lang="it-IT" sz="1000" b="1" i="1" dirty="0">
                <a:solidFill>
                  <a:schemeClr val="tx1"/>
                </a:solidFill>
              </a:rPr>
              <a:t>software timer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1C679391-E2E9-4BFB-B7A0-6A577316981F}"/>
              </a:ext>
            </a:extLst>
          </p:cNvPr>
          <p:cNvSpPr/>
          <p:nvPr/>
        </p:nvSpPr>
        <p:spPr>
          <a:xfrm>
            <a:off x="5152850" y="2167635"/>
            <a:ext cx="1930437" cy="555687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uart_queue_task</a:t>
            </a:r>
            <a:endParaRPr lang="it-IT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1899992-0D8A-3070-313D-7DFA91B0E553}"/>
              </a:ext>
            </a:extLst>
          </p:cNvPr>
          <p:cNvSpPr/>
          <p:nvPr/>
        </p:nvSpPr>
        <p:spPr>
          <a:xfrm>
            <a:off x="3748729" y="3986924"/>
            <a:ext cx="2347270" cy="14255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000" b="1" i="1" dirty="0">
                <a:solidFill>
                  <a:schemeClr val="tx1"/>
                </a:solidFill>
              </a:rPr>
              <a:t>RX Task</a:t>
            </a:r>
            <a:r>
              <a:rPr lang="it-IT" sz="1000" dirty="0">
                <a:solidFill>
                  <a:schemeClr val="tx1"/>
                </a:solidFill>
              </a:rPr>
              <a:t>: </a:t>
            </a:r>
            <a:r>
              <a:rPr lang="it-IT" sz="1000" dirty="0" err="1">
                <a:solidFill>
                  <a:schemeClr val="tx1"/>
                </a:solidFill>
              </a:rPr>
              <a:t>wait</a:t>
            </a:r>
            <a:r>
              <a:rPr lang="it-IT" sz="1000" dirty="0">
                <a:solidFill>
                  <a:schemeClr val="tx1"/>
                </a:solidFill>
              </a:rPr>
              <a:t> for a </a:t>
            </a:r>
            <a:r>
              <a:rPr lang="it-IT" sz="1000" dirty="0" err="1">
                <a:solidFill>
                  <a:schemeClr val="tx1"/>
                </a:solidFill>
              </a:rPr>
              <a:t>shared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i="1" dirty="0" err="1">
                <a:solidFill>
                  <a:schemeClr val="tx1"/>
                </a:solidFill>
              </a:rPr>
              <a:t>queue</a:t>
            </a:r>
            <a:r>
              <a:rPr lang="it-IT" sz="1000" i="1" dirty="0">
                <a:solidFill>
                  <a:schemeClr val="tx1"/>
                </a:solidFill>
              </a:rPr>
              <a:t> </a:t>
            </a:r>
            <a:r>
              <a:rPr lang="it-IT" sz="1000" dirty="0">
                <a:solidFill>
                  <a:schemeClr val="tx1"/>
                </a:solidFill>
              </a:rPr>
              <a:t>(</a:t>
            </a:r>
            <a:r>
              <a:rPr lang="it-IT" sz="1000" b="1" i="1" dirty="0" err="1">
                <a:solidFill>
                  <a:schemeClr val="tx1"/>
                </a:solidFill>
              </a:rPr>
              <a:t>xMbUartQueue</a:t>
            </a:r>
            <a:r>
              <a:rPr lang="it-IT" sz="1000" dirty="0">
                <a:solidFill>
                  <a:schemeClr val="tx1"/>
                </a:solidFill>
              </a:rPr>
              <a:t>) in </a:t>
            </a:r>
            <a:r>
              <a:rPr lang="it-IT" sz="1000" dirty="0" err="1">
                <a:solidFill>
                  <a:schemeClr val="tx1"/>
                </a:solidFill>
              </a:rPr>
              <a:t>order</a:t>
            </a:r>
            <a:r>
              <a:rPr lang="it-IT" sz="1000" dirty="0">
                <a:solidFill>
                  <a:schemeClr val="tx1"/>
                </a:solidFill>
              </a:rPr>
              <a:t> to handle the </a:t>
            </a:r>
            <a:r>
              <a:rPr lang="it-IT" sz="1000" dirty="0" err="1">
                <a:solidFill>
                  <a:schemeClr val="tx1"/>
                </a:solidFill>
              </a:rPr>
              <a:t>received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packets</a:t>
            </a:r>
            <a:r>
              <a:rPr lang="it-IT" sz="1000" dirty="0">
                <a:solidFill>
                  <a:schemeClr val="tx1"/>
                </a:solidFill>
              </a:rPr>
              <a:t> and store </a:t>
            </a:r>
            <a:r>
              <a:rPr lang="it-IT" sz="1000" dirty="0" err="1">
                <a:solidFill>
                  <a:schemeClr val="tx1"/>
                </a:solidFill>
              </a:rPr>
              <a:t>them</a:t>
            </a:r>
            <a:r>
              <a:rPr lang="it-IT" sz="1000" dirty="0">
                <a:solidFill>
                  <a:schemeClr val="tx1"/>
                </a:solidFill>
              </a:rPr>
              <a:t> in a </a:t>
            </a:r>
            <a:r>
              <a:rPr lang="it-IT" sz="1000" dirty="0" err="1">
                <a:solidFill>
                  <a:schemeClr val="tx1"/>
                </a:solidFill>
              </a:rPr>
              <a:t>struct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it-IT" sz="1000" b="1" i="1" dirty="0" err="1">
                <a:solidFill>
                  <a:schemeClr val="tx1"/>
                </a:solidFill>
              </a:rPr>
              <a:t>xMBPortSerialInit</a:t>
            </a:r>
            <a:r>
              <a:rPr lang="it-IT" sz="1000" b="1" i="1" dirty="0">
                <a:solidFill>
                  <a:schemeClr val="tx1"/>
                </a:solidFill>
              </a:rPr>
              <a:t>()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it-IT" sz="1000" b="1" i="1" dirty="0" err="1">
                <a:solidFill>
                  <a:schemeClr val="tx1"/>
                </a:solidFill>
              </a:rPr>
              <a:t>vUart_RXTask</a:t>
            </a:r>
            <a:r>
              <a:rPr lang="it-IT" sz="1000" b="1" i="1" dirty="0">
                <a:solidFill>
                  <a:schemeClr val="tx1"/>
                </a:solidFill>
              </a:rPr>
              <a:t>()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</a:rPr>
              <a:t>Reception of </a:t>
            </a:r>
            <a:r>
              <a:rPr lang="it-IT" sz="1000" dirty="0" err="1">
                <a:solidFill>
                  <a:schemeClr val="tx1"/>
                </a:solidFill>
              </a:rPr>
              <a:t>packet</a:t>
            </a:r>
            <a:r>
              <a:rPr lang="it-IT" sz="1000" dirty="0">
                <a:solidFill>
                  <a:schemeClr val="tx1"/>
                </a:solidFill>
              </a:rPr>
              <a:t> from …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109E3CC6-A16E-9367-6EA8-099438780544}"/>
              </a:ext>
            </a:extLst>
          </p:cNvPr>
          <p:cNvSpPr/>
          <p:nvPr/>
        </p:nvSpPr>
        <p:spPr>
          <a:xfrm>
            <a:off x="6216227" y="4148835"/>
            <a:ext cx="1266075" cy="5556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rgbClr val="FF0000"/>
                </a:solidFill>
              </a:rPr>
              <a:t>IRQ Service ESP32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4A725682-54B6-B2CF-5744-5A57297F8F62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6849264" y="2723322"/>
            <a:ext cx="1" cy="14255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53B8C07-2659-C71E-92E8-0F0B92FD834E}"/>
              </a:ext>
            </a:extLst>
          </p:cNvPr>
          <p:cNvSpPr txBox="1"/>
          <p:nvPr/>
        </p:nvSpPr>
        <p:spPr>
          <a:xfrm>
            <a:off x="6848170" y="3305889"/>
            <a:ext cx="17757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b="1" i="1" dirty="0" err="1">
                <a:solidFill>
                  <a:srgbClr val="FF0000"/>
                </a:solidFill>
              </a:rPr>
              <a:t>queues</a:t>
            </a:r>
            <a:r>
              <a:rPr lang="it-IT" sz="1000" b="1" i="1" dirty="0">
                <a:solidFill>
                  <a:srgbClr val="FF0000"/>
                </a:solidFill>
              </a:rPr>
              <a:t> </a:t>
            </a:r>
            <a:r>
              <a:rPr lang="it-IT" sz="1000" dirty="0">
                <a:solidFill>
                  <a:srgbClr val="FF0000"/>
                </a:solidFill>
              </a:rPr>
              <a:t>(incoming </a:t>
            </a:r>
            <a:r>
              <a:rPr lang="it-IT" sz="1000" dirty="0" err="1">
                <a:solidFill>
                  <a:srgbClr val="FF0000"/>
                </a:solidFill>
              </a:rPr>
              <a:t>packets</a:t>
            </a:r>
            <a:r>
              <a:rPr lang="it-IT" sz="1000" dirty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76B69A95-677A-827C-32E9-CB0176D4D9A2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flipH="1">
            <a:off x="2255143" y="1767358"/>
            <a:ext cx="971" cy="400277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9D53824A-061D-EB5F-1FC6-7166BC8FE982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2255141" y="2723322"/>
            <a:ext cx="2" cy="401432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" name="Connettore a gomito 20">
            <a:extLst>
              <a:ext uri="{FF2B5EF4-FFF2-40B4-BE49-F238E27FC236}">
                <a16:creationId xmlns:a16="http://schemas.microsoft.com/office/drawing/2014/main" id="{21B5C490-21C0-7A4E-D870-4188D5D7C515}"/>
              </a:ext>
            </a:extLst>
          </p:cNvPr>
          <p:cNvCxnSpPr>
            <a:cxnSpLocks/>
            <a:stCxn id="3" idx="3"/>
            <a:endCxn id="8" idx="0"/>
          </p:cNvCxnSpPr>
          <p:nvPr/>
        </p:nvCxnSpPr>
        <p:spPr>
          <a:xfrm>
            <a:off x="3226904" y="1254740"/>
            <a:ext cx="2891165" cy="912895"/>
          </a:xfrm>
          <a:prstGeom prst="bentConnector2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40821495-50F1-E4F0-4E57-40C916DFEA8D}"/>
              </a:ext>
            </a:extLst>
          </p:cNvPr>
          <p:cNvSpPr/>
          <p:nvPr/>
        </p:nvSpPr>
        <p:spPr>
          <a:xfrm>
            <a:off x="9132054" y="2163998"/>
            <a:ext cx="1930437" cy="555687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serialDriv_queue</a:t>
            </a:r>
            <a:endParaRPr lang="it-IT" dirty="0"/>
          </a:p>
          <a:p>
            <a:pPr algn="ctr"/>
            <a:r>
              <a:rPr lang="it-IT" sz="1000" dirty="0">
                <a:solidFill>
                  <a:srgbClr val="00B050"/>
                </a:solidFill>
              </a:rPr>
              <a:t>(</a:t>
            </a:r>
            <a:r>
              <a:rPr lang="it-IT" sz="1000" dirty="0" err="1">
                <a:solidFill>
                  <a:srgbClr val="00B050"/>
                </a:solidFill>
              </a:rPr>
              <a:t>modbus</a:t>
            </a:r>
            <a:r>
              <a:rPr lang="it-IT" sz="1000" dirty="0">
                <a:solidFill>
                  <a:srgbClr val="00B050"/>
                </a:solidFill>
              </a:rPr>
              <a:t> </a:t>
            </a:r>
            <a:r>
              <a:rPr lang="it-IT" sz="1000" dirty="0" err="1">
                <a:solidFill>
                  <a:srgbClr val="00B050"/>
                </a:solidFill>
              </a:rPr>
              <a:t>callback</a:t>
            </a:r>
            <a:r>
              <a:rPr lang="it-IT" sz="1000" dirty="0">
                <a:solidFill>
                  <a:srgbClr val="00B050"/>
                </a:solidFill>
              </a:rPr>
              <a:t> </a:t>
            </a:r>
            <a:r>
              <a:rPr lang="it-IT" sz="1000" dirty="0" err="1">
                <a:solidFill>
                  <a:srgbClr val="00B050"/>
                </a:solidFill>
              </a:rPr>
              <a:t>function</a:t>
            </a:r>
            <a:r>
              <a:rPr lang="it-IT" sz="1000" dirty="0">
                <a:solidFill>
                  <a:srgbClr val="00B050"/>
                </a:solidFill>
              </a:rPr>
              <a:t>)</a:t>
            </a:r>
            <a:endParaRPr lang="it-IT" dirty="0">
              <a:solidFill>
                <a:srgbClr val="00B050"/>
              </a:solidFill>
            </a:endParaRPr>
          </a:p>
        </p:txBody>
      </p: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6071D374-0419-F83F-F447-F545F60AB36D}"/>
              </a:ext>
            </a:extLst>
          </p:cNvPr>
          <p:cNvCxnSpPr>
            <a:stCxn id="8" idx="3"/>
            <a:endCxn id="25" idx="1"/>
          </p:cNvCxnSpPr>
          <p:nvPr/>
        </p:nvCxnSpPr>
        <p:spPr>
          <a:xfrm flipV="1">
            <a:off x="7083287" y="2441842"/>
            <a:ext cx="2048767" cy="36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9ED56FCD-D0DA-7EC5-BB4A-C9E4C4780835}"/>
              </a:ext>
            </a:extLst>
          </p:cNvPr>
          <p:cNvSpPr txBox="1"/>
          <p:nvPr/>
        </p:nvSpPr>
        <p:spPr>
          <a:xfrm>
            <a:off x="7648693" y="2183446"/>
            <a:ext cx="547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b="1" i="1" dirty="0" err="1">
                <a:solidFill>
                  <a:srgbClr val="FF0000"/>
                </a:solidFill>
              </a:rPr>
              <a:t>queue</a:t>
            </a:r>
            <a:endParaRPr lang="it-IT" b="1" i="1" dirty="0">
              <a:solidFill>
                <a:srgbClr val="FF0000"/>
              </a:solidFill>
            </a:endParaRP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CEF04DA6-DD7A-AE05-2A91-C6EFDDDEC0B1}"/>
              </a:ext>
            </a:extLst>
          </p:cNvPr>
          <p:cNvSpPr/>
          <p:nvPr/>
        </p:nvSpPr>
        <p:spPr>
          <a:xfrm>
            <a:off x="8757930" y="3235140"/>
            <a:ext cx="2678687" cy="11773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000" dirty="0" err="1">
                <a:solidFill>
                  <a:schemeClr val="tx1"/>
                </a:solidFill>
              </a:rPr>
              <a:t>Modbus</a:t>
            </a:r>
            <a:r>
              <a:rPr lang="it-IT" sz="1000" dirty="0">
                <a:solidFill>
                  <a:schemeClr val="tx1"/>
                </a:solidFill>
              </a:rPr>
              <a:t> Serial Driver Task acts </a:t>
            </a:r>
            <a:r>
              <a:rPr lang="it-IT" sz="1000" dirty="0" err="1">
                <a:solidFill>
                  <a:schemeClr val="tx1"/>
                </a:solidFill>
              </a:rPr>
              <a:t>as</a:t>
            </a:r>
            <a:r>
              <a:rPr lang="it-IT" sz="1000" dirty="0">
                <a:solidFill>
                  <a:schemeClr val="tx1"/>
                </a:solidFill>
              </a:rPr>
              <a:t> an </a:t>
            </a:r>
            <a:r>
              <a:rPr lang="it-IT" sz="1000" dirty="0" err="1">
                <a:solidFill>
                  <a:schemeClr val="tx1"/>
                </a:solidFill>
              </a:rPr>
              <a:t>interface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between</a:t>
            </a:r>
            <a:r>
              <a:rPr lang="it-IT" sz="1000" dirty="0">
                <a:solidFill>
                  <a:schemeClr val="tx1"/>
                </a:solidFill>
              </a:rPr>
              <a:t> the </a:t>
            </a:r>
            <a:r>
              <a:rPr lang="it-IT" sz="1000" b="1" i="1" dirty="0" err="1">
                <a:solidFill>
                  <a:schemeClr val="tx1"/>
                </a:solidFill>
              </a:rPr>
              <a:t>Modbus</a:t>
            </a:r>
            <a:r>
              <a:rPr lang="it-IT" sz="1000" b="1" i="1" dirty="0">
                <a:solidFill>
                  <a:schemeClr val="tx1"/>
                </a:solidFill>
              </a:rPr>
              <a:t> </a:t>
            </a:r>
            <a:r>
              <a:rPr lang="it-IT" sz="1000" b="1" i="1" dirty="0" err="1">
                <a:solidFill>
                  <a:schemeClr val="tx1"/>
                </a:solidFill>
              </a:rPr>
              <a:t>stack</a:t>
            </a:r>
            <a:r>
              <a:rPr lang="it-IT" sz="1000" dirty="0">
                <a:solidFill>
                  <a:schemeClr val="tx1"/>
                </a:solidFill>
              </a:rPr>
              <a:t> and the </a:t>
            </a:r>
            <a:r>
              <a:rPr lang="it-IT" sz="1000" b="1" i="1" dirty="0">
                <a:solidFill>
                  <a:schemeClr val="tx1"/>
                </a:solidFill>
              </a:rPr>
              <a:t>Serial Driver</a:t>
            </a:r>
            <a:endParaRPr lang="it-IT" sz="10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000" dirty="0" err="1">
                <a:solidFill>
                  <a:schemeClr val="tx1"/>
                </a:solidFill>
              </a:rPr>
              <a:t>This</a:t>
            </a:r>
            <a:r>
              <a:rPr lang="it-IT" sz="1000" dirty="0">
                <a:solidFill>
                  <a:schemeClr val="tx1"/>
                </a:solidFill>
              </a:rPr>
              <a:t> task </a:t>
            </a:r>
            <a:r>
              <a:rPr lang="it-IT" sz="1000" dirty="0" err="1">
                <a:solidFill>
                  <a:schemeClr val="tx1"/>
                </a:solidFill>
              </a:rPr>
              <a:t>moves</a:t>
            </a:r>
            <a:r>
              <a:rPr lang="it-IT" sz="1000" dirty="0">
                <a:solidFill>
                  <a:schemeClr val="tx1"/>
                </a:solidFill>
              </a:rPr>
              <a:t> the </a:t>
            </a:r>
            <a:r>
              <a:rPr lang="it-IT" sz="1000" i="1" dirty="0" err="1">
                <a:solidFill>
                  <a:schemeClr val="tx1"/>
                </a:solidFill>
              </a:rPr>
              <a:t>queue</a:t>
            </a:r>
            <a:r>
              <a:rPr lang="it-IT" sz="1000" i="1" dirty="0">
                <a:solidFill>
                  <a:schemeClr val="tx1"/>
                </a:solidFill>
              </a:rPr>
              <a:t> </a:t>
            </a:r>
            <a:r>
              <a:rPr lang="it-IT" sz="1000" i="1" dirty="0" err="1">
                <a:solidFill>
                  <a:schemeClr val="tx1"/>
                </a:solidFill>
              </a:rPr>
              <a:t>element</a:t>
            </a:r>
            <a:r>
              <a:rPr lang="it-IT" sz="1000" dirty="0">
                <a:solidFill>
                  <a:schemeClr val="tx1"/>
                </a:solidFill>
              </a:rPr>
              <a:t> from </a:t>
            </a:r>
            <a:r>
              <a:rPr lang="it-IT" sz="1000" dirty="0" err="1">
                <a:solidFill>
                  <a:schemeClr val="tx1"/>
                </a:solidFill>
              </a:rPr>
              <a:t>here</a:t>
            </a:r>
            <a:r>
              <a:rPr lang="it-IT" sz="1000" dirty="0">
                <a:solidFill>
                  <a:schemeClr val="tx1"/>
                </a:solidFill>
              </a:rPr>
              <a:t> to the </a:t>
            </a:r>
            <a:r>
              <a:rPr lang="it-IT" sz="1000" i="1" dirty="0" err="1">
                <a:solidFill>
                  <a:schemeClr val="tx1"/>
                </a:solidFill>
              </a:rPr>
              <a:t>queue</a:t>
            </a:r>
            <a:r>
              <a:rPr lang="it-IT" sz="1000" i="1" dirty="0">
                <a:solidFill>
                  <a:schemeClr val="tx1"/>
                </a:solidFill>
              </a:rPr>
              <a:t> driver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000" dirty="0">
                <a:solidFill>
                  <a:schemeClr val="tx1"/>
                </a:solidFill>
              </a:rPr>
              <a:t>Simulate the </a:t>
            </a:r>
            <a:r>
              <a:rPr lang="it-IT" sz="1000" i="1" dirty="0">
                <a:solidFill>
                  <a:schemeClr val="tx1"/>
                </a:solidFill>
              </a:rPr>
              <a:t>IRQ</a:t>
            </a:r>
            <a:r>
              <a:rPr lang="it-IT" sz="1000" dirty="0">
                <a:solidFill>
                  <a:schemeClr val="tx1"/>
                </a:solidFill>
              </a:rPr>
              <a:t> on barebone firmware</a:t>
            </a:r>
          </a:p>
        </p:txBody>
      </p: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6CAD3101-28F0-67A0-A3AC-D8C325195E67}"/>
              </a:ext>
            </a:extLst>
          </p:cNvPr>
          <p:cNvCxnSpPr>
            <a:cxnSpLocks/>
          </p:cNvCxnSpPr>
          <p:nvPr/>
        </p:nvCxnSpPr>
        <p:spPr>
          <a:xfrm>
            <a:off x="10097272" y="2719685"/>
            <a:ext cx="0" cy="515455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a gomito 30">
            <a:extLst>
              <a:ext uri="{FF2B5EF4-FFF2-40B4-BE49-F238E27FC236}">
                <a16:creationId xmlns:a16="http://schemas.microsoft.com/office/drawing/2014/main" id="{F834B9D3-778A-4AF0-15AB-5B96B0AE360E}"/>
              </a:ext>
            </a:extLst>
          </p:cNvPr>
          <p:cNvCxnSpPr>
            <a:cxnSpLocks/>
            <a:endCxn id="11" idx="0"/>
          </p:cNvCxnSpPr>
          <p:nvPr/>
        </p:nvCxnSpPr>
        <p:spPr>
          <a:xfrm rot="5400000">
            <a:off x="4613836" y="3028214"/>
            <a:ext cx="1267239" cy="650181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ttangolo 43">
            <a:extLst>
              <a:ext uri="{FF2B5EF4-FFF2-40B4-BE49-F238E27FC236}">
                <a16:creationId xmlns:a16="http://schemas.microsoft.com/office/drawing/2014/main" id="{65D91424-0ADF-5958-217D-482EC6B0D363}"/>
              </a:ext>
            </a:extLst>
          </p:cNvPr>
          <p:cNvSpPr/>
          <p:nvPr/>
        </p:nvSpPr>
        <p:spPr>
          <a:xfrm>
            <a:off x="599527" y="1895061"/>
            <a:ext cx="11234664" cy="3856382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it-IT" sz="1000" dirty="0">
              <a:ln>
                <a:solidFill>
                  <a:schemeClr val="tx1"/>
                </a:solidFill>
                <a:prstDash val="lgDashDot"/>
              </a:ln>
              <a:solidFill>
                <a:schemeClr val="tx1"/>
              </a:solidFill>
            </a:endParaRPr>
          </a:p>
        </p:txBody>
      </p:sp>
      <p:cxnSp>
        <p:nvCxnSpPr>
          <p:cNvPr id="45" name="Connettore a gomito 44">
            <a:extLst>
              <a:ext uri="{FF2B5EF4-FFF2-40B4-BE49-F238E27FC236}">
                <a16:creationId xmlns:a16="http://schemas.microsoft.com/office/drawing/2014/main" id="{F27479E2-C429-8D3B-B45C-42ECCFD99258}"/>
              </a:ext>
            </a:extLst>
          </p:cNvPr>
          <p:cNvCxnSpPr>
            <a:cxnSpLocks/>
          </p:cNvCxnSpPr>
          <p:nvPr/>
        </p:nvCxnSpPr>
        <p:spPr>
          <a:xfrm>
            <a:off x="6118068" y="1254740"/>
            <a:ext cx="3979204" cy="895818"/>
          </a:xfrm>
          <a:prstGeom prst="bentConnector3">
            <a:avLst>
              <a:gd name="adj1" fmla="val 99955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8943DF5C-2435-EA71-8C24-B424FB52074A}"/>
              </a:ext>
            </a:extLst>
          </p:cNvPr>
          <p:cNvSpPr txBox="1"/>
          <p:nvPr/>
        </p:nvSpPr>
        <p:spPr>
          <a:xfrm>
            <a:off x="10097272" y="5314121"/>
            <a:ext cx="1647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 err="1">
                <a:solidFill>
                  <a:srgbClr val="00B050"/>
                </a:solidFill>
              </a:rPr>
              <a:t>Modbus</a:t>
            </a:r>
            <a:r>
              <a:rPr lang="it-IT" b="1" i="1" dirty="0">
                <a:solidFill>
                  <a:srgbClr val="00B050"/>
                </a:solidFill>
              </a:rPr>
              <a:t> UART</a:t>
            </a:r>
          </a:p>
        </p:txBody>
      </p:sp>
    </p:spTree>
    <p:extLst>
      <p:ext uri="{BB962C8B-B14F-4D97-AF65-F5344CB8AC3E}">
        <p14:creationId xmlns:p14="http://schemas.microsoft.com/office/powerpoint/2010/main" val="325155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116898C6-2350-CD4B-8BCD-F57F704940E9}"/>
              </a:ext>
            </a:extLst>
          </p:cNvPr>
          <p:cNvSpPr/>
          <p:nvPr/>
        </p:nvSpPr>
        <p:spPr>
          <a:xfrm>
            <a:off x="5342734" y="186435"/>
            <a:ext cx="1506531" cy="55568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App </a:t>
            </a:r>
            <a:r>
              <a:rPr lang="it-IT" dirty="0" err="1"/>
              <a:t>main</a:t>
            </a:r>
            <a:endParaRPr lang="it-IT" dirty="0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2573994E-7A9F-E42B-9B47-62DC9C29F21E}"/>
              </a:ext>
            </a:extLst>
          </p:cNvPr>
          <p:cNvSpPr/>
          <p:nvPr/>
        </p:nvSpPr>
        <p:spPr>
          <a:xfrm>
            <a:off x="1285324" y="742122"/>
            <a:ext cx="1941580" cy="1025236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Task </a:t>
            </a:r>
            <a:r>
              <a:rPr lang="it-IT" dirty="0" err="1"/>
              <a:t>Modbus</a:t>
            </a:r>
            <a:r>
              <a:rPr lang="it-IT" dirty="0"/>
              <a:t> Slave </a:t>
            </a:r>
            <a:r>
              <a:rPr lang="it-IT" dirty="0" err="1"/>
              <a:t>Measure</a:t>
            </a:r>
            <a:endParaRPr lang="it-IT" dirty="0"/>
          </a:p>
        </p:txBody>
      </p:sp>
      <p:cxnSp>
        <p:nvCxnSpPr>
          <p:cNvPr id="5" name="Connettore a gomito 4">
            <a:extLst>
              <a:ext uri="{FF2B5EF4-FFF2-40B4-BE49-F238E27FC236}">
                <a16:creationId xmlns:a16="http://schemas.microsoft.com/office/drawing/2014/main" id="{A0F89A87-C61B-9541-8067-0971690F9768}"/>
              </a:ext>
            </a:extLst>
          </p:cNvPr>
          <p:cNvCxnSpPr>
            <a:cxnSpLocks/>
            <a:stCxn id="2" idx="1"/>
            <a:endCxn id="3" idx="0"/>
          </p:cNvCxnSpPr>
          <p:nvPr/>
        </p:nvCxnSpPr>
        <p:spPr>
          <a:xfrm rot="10800000" flipV="1">
            <a:off x="2256114" y="464278"/>
            <a:ext cx="3086620" cy="277843"/>
          </a:xfrm>
          <a:prstGeom prst="bentConnector2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4B9DF5DC-8121-BB74-2951-533B10DCFAA1}"/>
              </a:ext>
            </a:extLst>
          </p:cNvPr>
          <p:cNvSpPr/>
          <p:nvPr/>
        </p:nvSpPr>
        <p:spPr>
          <a:xfrm>
            <a:off x="1205452" y="2167635"/>
            <a:ext cx="2099381" cy="555687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tcp_slave_task</a:t>
            </a:r>
            <a:endParaRPr lang="it-IT" dirty="0"/>
          </a:p>
          <a:p>
            <a:pPr algn="ctr"/>
            <a:r>
              <a:rPr lang="it-IT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it-IT" sz="900" b="1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vMBTCPPortServerTask</a:t>
            </a:r>
            <a:r>
              <a:rPr lang="it-IT" sz="9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 )</a:t>
            </a:r>
            <a:endParaRPr lang="it-IT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EAD456A-7A94-C098-1EEE-882D8C7C4F3C}"/>
              </a:ext>
            </a:extLst>
          </p:cNvPr>
          <p:cNvSpPr/>
          <p:nvPr/>
        </p:nvSpPr>
        <p:spPr>
          <a:xfrm>
            <a:off x="875311" y="3124754"/>
            <a:ext cx="2759663" cy="11225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Task in charge of handle TCP connections.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This task opens, close, and received information of the different TCP connections. Also send the received packets to the driver upper layers.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1C679391-E2E9-4BFB-B7A0-6A577316981F}"/>
              </a:ext>
            </a:extLst>
          </p:cNvPr>
          <p:cNvSpPr/>
          <p:nvPr/>
        </p:nvSpPr>
        <p:spPr>
          <a:xfrm>
            <a:off x="5152850" y="2167635"/>
            <a:ext cx="2242284" cy="555687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mbs_port_tcp_task</a:t>
            </a:r>
            <a:endParaRPr lang="it-IT" dirty="0"/>
          </a:p>
          <a:p>
            <a:pPr algn="ctr"/>
            <a:r>
              <a:rPr lang="it-IT" sz="1000" b="1" i="1" dirty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it-IT" sz="1000" b="1" i="1" dirty="0" err="1">
                <a:solidFill>
                  <a:schemeClr val="bg2">
                    <a:lumMod val="25000"/>
                  </a:schemeClr>
                </a:solidFill>
              </a:rPr>
              <a:t>mb_tcp_driver_start</a:t>
            </a:r>
            <a:r>
              <a:rPr lang="it-IT" sz="1000" b="1" i="1" dirty="0">
                <a:solidFill>
                  <a:schemeClr val="bg2">
                    <a:lumMod val="25000"/>
                  </a:schemeClr>
                </a:solidFill>
              </a:rPr>
              <a:t>() )</a:t>
            </a:r>
            <a:endParaRPr lang="it-IT" b="1" i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1899992-0D8A-3070-313D-7DFA91B0E553}"/>
              </a:ext>
            </a:extLst>
          </p:cNvPr>
          <p:cNvSpPr/>
          <p:nvPr/>
        </p:nvSpPr>
        <p:spPr>
          <a:xfrm>
            <a:off x="5100357" y="3163505"/>
            <a:ext cx="4600233" cy="6531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000" b="1" i="1" dirty="0" err="1">
                <a:solidFill>
                  <a:schemeClr val="tx1"/>
                </a:solidFill>
              </a:rPr>
              <a:t>modbus_tcp_interface_task</a:t>
            </a:r>
            <a:r>
              <a:rPr lang="it-IT" sz="1000" b="1" i="1" dirty="0">
                <a:solidFill>
                  <a:schemeClr val="tx1"/>
                </a:solidFill>
              </a:rPr>
              <a:t>()</a:t>
            </a:r>
            <a:r>
              <a:rPr lang="it-IT" sz="1000" dirty="0">
                <a:solidFill>
                  <a:schemeClr val="tx1"/>
                </a:solidFill>
              </a:rPr>
              <a:t>:</a:t>
            </a:r>
            <a:r>
              <a:rPr lang="en-US" sz="1000" b="1" i="1" dirty="0">
                <a:solidFill>
                  <a:schemeClr val="tx1"/>
                </a:solidFill>
              </a:rPr>
              <a:t> </a:t>
            </a:r>
            <a:r>
              <a:rPr lang="en-US" sz="1000" dirty="0">
                <a:solidFill>
                  <a:schemeClr val="tx1"/>
                </a:solidFill>
              </a:rPr>
              <a:t>This function pass the configuration parameters defined in </a:t>
            </a:r>
            <a:r>
              <a:rPr lang="en-US" sz="1000" i="1" dirty="0" err="1">
                <a:solidFill>
                  <a:schemeClr val="tx1"/>
                </a:solidFill>
              </a:rPr>
              <a:t>mb_communication_info_t</a:t>
            </a:r>
            <a:r>
              <a:rPr lang="en-US" sz="1000" i="1" dirty="0">
                <a:solidFill>
                  <a:schemeClr val="tx1"/>
                </a:solidFill>
              </a:rPr>
              <a:t> </a:t>
            </a:r>
            <a:r>
              <a:rPr lang="en-US" sz="1000" dirty="0">
                <a:solidFill>
                  <a:schemeClr val="tx1"/>
                </a:solidFill>
              </a:rPr>
              <a:t>struct to the driver object and verifies that the parameters are ok.</a:t>
            </a:r>
            <a:r>
              <a:rPr lang="it-IT" sz="1000" dirty="0">
                <a:solidFill>
                  <a:schemeClr val="tx1"/>
                </a:solidFill>
              </a:rPr>
              <a:t>  </a:t>
            </a:r>
            <a:endParaRPr lang="it-IT" sz="1000" b="1" i="1" dirty="0">
              <a:solidFill>
                <a:schemeClr val="tx1"/>
              </a:solidFill>
            </a:endParaRP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76B69A95-677A-827C-32E9-CB0176D4D9A2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flipH="1">
            <a:off x="2255143" y="1767358"/>
            <a:ext cx="971" cy="400277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9D53824A-061D-EB5F-1FC6-7166BC8FE982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2255143" y="2723322"/>
            <a:ext cx="0" cy="401432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" name="Connettore a gomito 20">
            <a:extLst>
              <a:ext uri="{FF2B5EF4-FFF2-40B4-BE49-F238E27FC236}">
                <a16:creationId xmlns:a16="http://schemas.microsoft.com/office/drawing/2014/main" id="{21B5C490-21C0-7A4E-D870-4188D5D7C515}"/>
              </a:ext>
            </a:extLst>
          </p:cNvPr>
          <p:cNvCxnSpPr>
            <a:cxnSpLocks/>
            <a:stCxn id="3" idx="3"/>
            <a:endCxn id="8" idx="0"/>
          </p:cNvCxnSpPr>
          <p:nvPr/>
        </p:nvCxnSpPr>
        <p:spPr>
          <a:xfrm>
            <a:off x="3226904" y="1254740"/>
            <a:ext cx="3047088" cy="912895"/>
          </a:xfrm>
          <a:prstGeom prst="bentConnector2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ttangolo 43">
            <a:extLst>
              <a:ext uri="{FF2B5EF4-FFF2-40B4-BE49-F238E27FC236}">
                <a16:creationId xmlns:a16="http://schemas.microsoft.com/office/drawing/2014/main" id="{65D91424-0ADF-5958-217D-482EC6B0D363}"/>
              </a:ext>
            </a:extLst>
          </p:cNvPr>
          <p:cNvSpPr/>
          <p:nvPr/>
        </p:nvSpPr>
        <p:spPr>
          <a:xfrm>
            <a:off x="599527" y="1895061"/>
            <a:ext cx="11234664" cy="3856382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it-IT" sz="1000" dirty="0">
              <a:ln>
                <a:solidFill>
                  <a:schemeClr val="tx1"/>
                </a:solidFill>
                <a:prstDash val="lgDashDot"/>
              </a:ln>
              <a:solidFill>
                <a:schemeClr val="tx1"/>
              </a:solidFill>
            </a:endParaRP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8943DF5C-2435-EA71-8C24-B424FB52074A}"/>
              </a:ext>
            </a:extLst>
          </p:cNvPr>
          <p:cNvSpPr txBox="1"/>
          <p:nvPr/>
        </p:nvSpPr>
        <p:spPr>
          <a:xfrm>
            <a:off x="10288556" y="5382111"/>
            <a:ext cx="1547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Modbus</a:t>
            </a:r>
            <a:r>
              <a:rPr lang="it-IT" b="1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TCP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F752D889-A8DF-CC2A-E226-6F9B37B03487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3304833" y="2445479"/>
            <a:ext cx="184801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87A1DA1A-9F3A-104C-65D9-0A76AAD8FDFB}"/>
              </a:ext>
            </a:extLst>
          </p:cNvPr>
          <p:cNvSpPr txBox="1"/>
          <p:nvPr/>
        </p:nvSpPr>
        <p:spPr>
          <a:xfrm>
            <a:off x="3972919" y="2200777"/>
            <a:ext cx="5118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b="1" i="1" dirty="0">
                <a:solidFill>
                  <a:srgbClr val="FF0000"/>
                </a:solidFill>
              </a:rPr>
              <a:t>Event</a:t>
            </a:r>
          </a:p>
        </p:txBody>
      </p: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952E4514-5254-D41D-5EFF-189ED8BA9027}"/>
              </a:ext>
            </a:extLst>
          </p:cNvPr>
          <p:cNvCxnSpPr>
            <a:cxnSpLocks/>
          </p:cNvCxnSpPr>
          <p:nvPr/>
        </p:nvCxnSpPr>
        <p:spPr>
          <a:xfrm>
            <a:off x="6273992" y="2723322"/>
            <a:ext cx="0" cy="401432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7" name="Connettore a gomito 46">
            <a:extLst>
              <a:ext uri="{FF2B5EF4-FFF2-40B4-BE49-F238E27FC236}">
                <a16:creationId xmlns:a16="http://schemas.microsoft.com/office/drawing/2014/main" id="{6C3EC255-FB42-4D2D-72EA-A4A3BB672353}"/>
              </a:ext>
            </a:extLst>
          </p:cNvPr>
          <p:cNvCxnSpPr>
            <a:stCxn id="8" idx="3"/>
            <a:endCxn id="48" idx="0"/>
          </p:cNvCxnSpPr>
          <p:nvPr/>
        </p:nvCxnSpPr>
        <p:spPr>
          <a:xfrm>
            <a:off x="7395134" y="2445479"/>
            <a:ext cx="3667357" cy="293663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5B014A40-1C79-2A1D-23D2-1C455A05515B}"/>
              </a:ext>
            </a:extLst>
          </p:cNvPr>
          <p:cNvSpPr txBox="1"/>
          <p:nvPr/>
        </p:nvSpPr>
        <p:spPr>
          <a:xfrm>
            <a:off x="9102817" y="2190989"/>
            <a:ext cx="677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b="1" i="1" dirty="0" err="1">
                <a:solidFill>
                  <a:srgbClr val="FF0000"/>
                </a:solidFill>
              </a:rPr>
              <a:t>queue</a:t>
            </a:r>
            <a:endParaRPr lang="it-IT" sz="10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279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A6F2A2BA-7E74-7EFC-26BC-8B257117B0EE}"/>
              </a:ext>
            </a:extLst>
          </p:cNvPr>
          <p:cNvSpPr/>
          <p:nvPr/>
        </p:nvSpPr>
        <p:spPr>
          <a:xfrm>
            <a:off x="5342734" y="186435"/>
            <a:ext cx="1506531" cy="55568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App </a:t>
            </a:r>
            <a:r>
              <a:rPr lang="it-IT" dirty="0" err="1"/>
              <a:t>main</a:t>
            </a:r>
            <a:endParaRPr lang="it-IT" dirty="0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8FD51670-A400-12D6-79B4-C7230086454B}"/>
              </a:ext>
            </a:extLst>
          </p:cNvPr>
          <p:cNvSpPr/>
          <p:nvPr/>
        </p:nvSpPr>
        <p:spPr>
          <a:xfrm>
            <a:off x="1176059" y="742122"/>
            <a:ext cx="2160109" cy="1025236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Task</a:t>
            </a:r>
          </a:p>
          <a:p>
            <a:pPr algn="ctr"/>
            <a:r>
              <a:rPr lang="it-IT" dirty="0"/>
              <a:t>Network </a:t>
            </a:r>
            <a:r>
              <a:rPr lang="it-IT" dirty="0" err="1"/>
              <a:t>Interfaces</a:t>
            </a:r>
            <a:endParaRPr lang="it-IT" dirty="0"/>
          </a:p>
          <a:p>
            <a:pPr algn="ctr"/>
            <a:r>
              <a:rPr lang="it-IT" sz="1000" dirty="0"/>
              <a:t>(</a:t>
            </a:r>
            <a:r>
              <a:rPr lang="it-IT" sz="1000" i="1" dirty="0"/>
              <a:t>Ethernet, Wi-Fi, etc.)</a:t>
            </a:r>
            <a:endParaRPr lang="it-IT" sz="1400" dirty="0"/>
          </a:p>
        </p:txBody>
      </p:sp>
      <p:cxnSp>
        <p:nvCxnSpPr>
          <p:cNvPr id="4" name="Connettore a gomito 3">
            <a:extLst>
              <a:ext uri="{FF2B5EF4-FFF2-40B4-BE49-F238E27FC236}">
                <a16:creationId xmlns:a16="http://schemas.microsoft.com/office/drawing/2014/main" id="{F93CDC1C-2A62-20CA-96A6-67488C0D1052}"/>
              </a:ext>
            </a:extLst>
          </p:cNvPr>
          <p:cNvCxnSpPr>
            <a:cxnSpLocks/>
          </p:cNvCxnSpPr>
          <p:nvPr/>
        </p:nvCxnSpPr>
        <p:spPr>
          <a:xfrm rot="10800000" flipV="1">
            <a:off x="2256114" y="464278"/>
            <a:ext cx="3086620" cy="277843"/>
          </a:xfrm>
          <a:prstGeom prst="bentConnector2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0E6C9108-8F45-31ED-E07C-C7E4A7669DFF}"/>
              </a:ext>
            </a:extLst>
          </p:cNvPr>
          <p:cNvSpPr/>
          <p:nvPr/>
        </p:nvSpPr>
        <p:spPr>
          <a:xfrm>
            <a:off x="755374" y="2252870"/>
            <a:ext cx="1547122" cy="37768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Driver (</a:t>
            </a:r>
            <a:r>
              <a:rPr lang="it-IT" i="1" dirty="0"/>
              <a:t>CGC</a:t>
            </a:r>
            <a:r>
              <a:rPr lang="it-IT" dirty="0"/>
              <a:t>)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935E91E2-0328-F7D6-3E87-817EFC6881A5}"/>
              </a:ext>
            </a:extLst>
          </p:cNvPr>
          <p:cNvSpPr/>
          <p:nvPr/>
        </p:nvSpPr>
        <p:spPr>
          <a:xfrm>
            <a:off x="2680184" y="2252866"/>
            <a:ext cx="1547121" cy="37768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Driver (</a:t>
            </a:r>
            <a:r>
              <a:rPr lang="it-IT" i="1" dirty="0"/>
              <a:t>CGC</a:t>
            </a:r>
            <a:r>
              <a:rPr lang="it-IT" dirty="0"/>
              <a:t>)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66C280C1-960F-F886-B533-01AC46000380}"/>
              </a:ext>
            </a:extLst>
          </p:cNvPr>
          <p:cNvSpPr/>
          <p:nvPr/>
        </p:nvSpPr>
        <p:spPr>
          <a:xfrm>
            <a:off x="4626279" y="2252866"/>
            <a:ext cx="1547120" cy="37768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Driver (</a:t>
            </a:r>
            <a:r>
              <a:rPr lang="it-IT" i="1" dirty="0"/>
              <a:t>CGC</a:t>
            </a:r>
            <a:r>
              <a:rPr lang="it-IT" dirty="0"/>
              <a:t>)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F114AFCA-9A32-F4E5-FF8E-156C42406305}"/>
              </a:ext>
            </a:extLst>
          </p:cNvPr>
          <p:cNvSpPr/>
          <p:nvPr/>
        </p:nvSpPr>
        <p:spPr>
          <a:xfrm>
            <a:off x="6576186" y="2252866"/>
            <a:ext cx="1547117" cy="37768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Driver (</a:t>
            </a:r>
            <a:r>
              <a:rPr lang="it-IT" i="1" dirty="0"/>
              <a:t>CGC</a:t>
            </a:r>
            <a:r>
              <a:rPr lang="it-IT" dirty="0"/>
              <a:t>)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9176EFE0-6F1B-1601-0AFA-8068301E6924}"/>
              </a:ext>
            </a:extLst>
          </p:cNvPr>
          <p:cNvSpPr/>
          <p:nvPr/>
        </p:nvSpPr>
        <p:spPr>
          <a:xfrm>
            <a:off x="732182" y="3584712"/>
            <a:ext cx="1547123" cy="841513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Wi-Fi (</a:t>
            </a:r>
            <a:r>
              <a:rPr lang="it-IT" i="1" dirty="0"/>
              <a:t>ESP32</a:t>
            </a:r>
            <a:r>
              <a:rPr lang="it-IT" dirty="0"/>
              <a:t>)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67CC0F28-9830-1532-E063-92F517D9FABF}"/>
              </a:ext>
            </a:extLst>
          </p:cNvPr>
          <p:cNvSpPr/>
          <p:nvPr/>
        </p:nvSpPr>
        <p:spPr>
          <a:xfrm>
            <a:off x="2680182" y="3584712"/>
            <a:ext cx="1547123" cy="841513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mDNS</a:t>
            </a:r>
            <a:endParaRPr lang="it-IT" dirty="0"/>
          </a:p>
          <a:p>
            <a:pPr algn="ctr"/>
            <a:r>
              <a:rPr lang="it-IT" dirty="0"/>
              <a:t>(</a:t>
            </a:r>
            <a:r>
              <a:rPr lang="it-IT" i="1" dirty="0"/>
              <a:t>ESP32</a:t>
            </a:r>
            <a:r>
              <a:rPr lang="it-IT" dirty="0"/>
              <a:t>)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C0D87C8-66F1-4AAD-676A-EAD507F4163B}"/>
              </a:ext>
            </a:extLst>
          </p:cNvPr>
          <p:cNvSpPr/>
          <p:nvPr/>
        </p:nvSpPr>
        <p:spPr>
          <a:xfrm>
            <a:off x="4628182" y="3584711"/>
            <a:ext cx="1547123" cy="841513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sysEvent</a:t>
            </a:r>
            <a:endParaRPr lang="it-IT" dirty="0"/>
          </a:p>
          <a:p>
            <a:pPr algn="ctr"/>
            <a:r>
              <a:rPr lang="it-IT" dirty="0"/>
              <a:t>(</a:t>
            </a:r>
            <a:r>
              <a:rPr lang="it-IT" i="1" dirty="0"/>
              <a:t>ESP32</a:t>
            </a:r>
            <a:r>
              <a:rPr lang="it-IT" dirty="0"/>
              <a:t>)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E402E648-9A6E-E879-89E6-72174472A045}"/>
              </a:ext>
            </a:extLst>
          </p:cNvPr>
          <p:cNvSpPr/>
          <p:nvPr/>
        </p:nvSpPr>
        <p:spPr>
          <a:xfrm>
            <a:off x="6576180" y="3584711"/>
            <a:ext cx="1547123" cy="841513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Ethernet</a:t>
            </a:r>
          </a:p>
          <a:p>
            <a:pPr algn="ctr"/>
            <a:r>
              <a:rPr lang="it-IT" dirty="0"/>
              <a:t>(</a:t>
            </a:r>
            <a:r>
              <a:rPr lang="it-IT" i="1" dirty="0"/>
              <a:t>ESP32</a:t>
            </a:r>
            <a:r>
              <a:rPr lang="it-IT" dirty="0"/>
              <a:t>)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BF39649F-F91E-07F2-1019-919994020D50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528934" y="1767358"/>
            <a:ext cx="1" cy="485512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889EE15B-4184-94D6-7F89-B3036ADDA50D}"/>
              </a:ext>
            </a:extLst>
          </p:cNvPr>
          <p:cNvCxnSpPr>
            <a:cxnSpLocks/>
          </p:cNvCxnSpPr>
          <p:nvPr/>
        </p:nvCxnSpPr>
        <p:spPr>
          <a:xfrm>
            <a:off x="1505743" y="2630556"/>
            <a:ext cx="0" cy="954155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CD51A2ED-5531-8FE6-C4A1-ED71DD2A1D40}"/>
              </a:ext>
            </a:extLst>
          </p:cNvPr>
          <p:cNvCxnSpPr>
            <a:cxnSpLocks/>
          </p:cNvCxnSpPr>
          <p:nvPr/>
        </p:nvCxnSpPr>
        <p:spPr>
          <a:xfrm>
            <a:off x="3453743" y="2630556"/>
            <a:ext cx="0" cy="954155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1D6AE95D-9C44-5518-B21F-1540FAD1D7CF}"/>
              </a:ext>
            </a:extLst>
          </p:cNvPr>
          <p:cNvCxnSpPr>
            <a:cxnSpLocks/>
          </p:cNvCxnSpPr>
          <p:nvPr/>
        </p:nvCxnSpPr>
        <p:spPr>
          <a:xfrm>
            <a:off x="5383550" y="2630553"/>
            <a:ext cx="0" cy="954155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8A7936EF-D39C-0D9A-1478-85DB7C9F5811}"/>
              </a:ext>
            </a:extLst>
          </p:cNvPr>
          <p:cNvCxnSpPr>
            <a:cxnSpLocks/>
          </p:cNvCxnSpPr>
          <p:nvPr/>
        </p:nvCxnSpPr>
        <p:spPr>
          <a:xfrm>
            <a:off x="7324647" y="2630556"/>
            <a:ext cx="0" cy="954155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a gomito 24">
            <a:extLst>
              <a:ext uri="{FF2B5EF4-FFF2-40B4-BE49-F238E27FC236}">
                <a16:creationId xmlns:a16="http://schemas.microsoft.com/office/drawing/2014/main" id="{7F05D582-8666-CAE1-B31B-7B0772A3F4DB}"/>
              </a:ext>
            </a:extLst>
          </p:cNvPr>
          <p:cNvCxnSpPr>
            <a:cxnSpLocks/>
            <a:stCxn id="3" idx="3"/>
            <a:endCxn id="6" idx="0"/>
          </p:cNvCxnSpPr>
          <p:nvPr/>
        </p:nvCxnSpPr>
        <p:spPr>
          <a:xfrm>
            <a:off x="3336168" y="1254740"/>
            <a:ext cx="117577" cy="998126"/>
          </a:xfrm>
          <a:prstGeom prst="bentConnector2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a gomito 26">
            <a:extLst>
              <a:ext uri="{FF2B5EF4-FFF2-40B4-BE49-F238E27FC236}">
                <a16:creationId xmlns:a16="http://schemas.microsoft.com/office/drawing/2014/main" id="{FEABC310-4F2D-A999-67F6-D9DA6C9516F1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3453743" y="1254740"/>
            <a:ext cx="1946096" cy="998126"/>
          </a:xfrm>
          <a:prstGeom prst="bentConnector2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a gomito 34">
            <a:extLst>
              <a:ext uri="{FF2B5EF4-FFF2-40B4-BE49-F238E27FC236}">
                <a16:creationId xmlns:a16="http://schemas.microsoft.com/office/drawing/2014/main" id="{2D287D61-6511-5032-1867-78381912DECD}"/>
              </a:ext>
            </a:extLst>
          </p:cNvPr>
          <p:cNvCxnSpPr>
            <a:cxnSpLocks/>
          </p:cNvCxnSpPr>
          <p:nvPr/>
        </p:nvCxnSpPr>
        <p:spPr>
          <a:xfrm>
            <a:off x="5399839" y="1254739"/>
            <a:ext cx="1946096" cy="998126"/>
          </a:xfrm>
          <a:prstGeom prst="bentConnector2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ttangolo 35">
            <a:extLst>
              <a:ext uri="{FF2B5EF4-FFF2-40B4-BE49-F238E27FC236}">
                <a16:creationId xmlns:a16="http://schemas.microsoft.com/office/drawing/2014/main" id="{38CC4E2D-B1B0-9D6A-5E0F-1D3FD0B816D3}"/>
              </a:ext>
            </a:extLst>
          </p:cNvPr>
          <p:cNvSpPr/>
          <p:nvPr/>
        </p:nvSpPr>
        <p:spPr>
          <a:xfrm>
            <a:off x="463831" y="3326296"/>
            <a:ext cx="7977804" cy="1345096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it-IT" sz="1000" dirty="0">
              <a:ln>
                <a:solidFill>
                  <a:schemeClr val="tx1"/>
                </a:solidFill>
                <a:prstDash val="lgDashDot"/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4431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470</Words>
  <Application>Microsoft Office PowerPoint</Application>
  <PresentationFormat>Widescreen</PresentationFormat>
  <Paragraphs>84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di Office</vt:lpstr>
      <vt:lpstr>Sequenza di partenza dei Task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Samuel Lazzaro</dc:creator>
  <cp:lastModifiedBy>Samuel Lazzaro</cp:lastModifiedBy>
  <cp:revision>1</cp:revision>
  <dcterms:created xsi:type="dcterms:W3CDTF">2024-10-04T13:57:10Z</dcterms:created>
  <dcterms:modified xsi:type="dcterms:W3CDTF">2025-02-17T09:27:06Z</dcterms:modified>
</cp:coreProperties>
</file>